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34440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Q-</a:t>
            </a:r>
            <a:r>
              <a:rPr lang="en-US" sz="1100" b="1" kern="0" spc="100" dirty="0" err="1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Lithos</a:t>
            </a:r>
            <a:endParaRPr lang="en-US" sz="1100" b="1" kern="0" spc="100" dirty="0">
              <a:solidFill>
                <a:srgbClr val="5B3B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10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Quantum- Classical simulation for Battery material screening</a:t>
            </a:r>
            <a:endParaRPr lang="en-US" sz="1000" b="1" kern="0" spc="100" dirty="0">
              <a:solidFill>
                <a:srgbClr val="5B3B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b="1" kern="0" spc="100" dirty="0">
              <a:solidFill>
                <a:srgbClr val="5B3B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Field: TRACK"/>
          <p:cNvSpPr/>
          <p:nvPr/>
        </p:nvSpPr>
        <p:spPr>
          <a:xfrm>
            <a:off x="4023360" y="185166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8 – Quantum Chemistry and sensing</a:t>
            </a:r>
            <a:endParaRPr lang="en-US" sz="105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</a:t>
            </a:r>
            <a:r>
              <a:rPr lang="en-US" sz="1200" b="1" kern="0" spc="1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Anonymous</a:t>
            </a:r>
            <a:endParaRPr lang="en-US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LEADER</a:t>
            </a:r>
            <a:endParaRPr lang="en-US" sz="900" b="1" kern="0" spc="100" dirty="0">
              <a:solidFill>
                <a:srgbClr val="5B3B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11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Nandita </a:t>
            </a:r>
            <a:r>
              <a:rPr lang="en-US" sz="1100" b="1" kern="0" spc="100" dirty="0" err="1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salunke</a:t>
            </a:r>
            <a:endParaRPr lang="en-US" sz="11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/ CONTACT</a:t>
            </a:r>
            <a:endParaRPr lang="en-US" sz="900" b="1" kern="0" spc="100" dirty="0">
              <a:solidFill>
                <a:srgbClr val="5B3B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105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nanditasalunke00@gmail.com</a:t>
            </a:r>
            <a:endParaRPr lang="en-US" sz="105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900" b="1" kern="0" spc="100" dirty="0">
              <a:solidFill>
                <a:srgbClr val="5B3B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105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Ramling </a:t>
            </a:r>
            <a:r>
              <a:rPr lang="en-US" sz="1050" b="1" kern="0" spc="100" dirty="0" err="1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belkeri</a:t>
            </a:r>
            <a:endParaRPr lang="en-US" sz="105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Visvesvaraya Technological university , Belagavi</a:t>
            </a:r>
            <a:endParaRPr lang="en-US" sz="1050" b="1" dirty="0"/>
          </a:p>
        </p:txBody>
      </p:sp>
      <p:sp>
        <p:nvSpPr>
          <p:cNvPr id="17" name="Field: COUNTRY"/>
          <p:cNvSpPr/>
          <p:nvPr/>
        </p:nvSpPr>
        <p:spPr>
          <a:xfrm>
            <a:off x="6473952" y="390906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COUNTRY</a:t>
            </a:r>
            <a:endParaRPr lang="en-US" sz="900" b="1" kern="0" spc="100" dirty="0">
              <a:solidFill>
                <a:srgbClr val="5B3B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10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598771"/>
            <a:ext cx="4964906" cy="251602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r>
              <a:rPr lang="en-US" sz="2400" b="1" i="1" dirty="0">
                <a:solidFill>
                  <a:schemeClr val="tx2">
                    <a:lumMod val="50000"/>
                  </a:schemeClr>
                </a:solidFill>
              </a:rPr>
              <a:t>Why Battery Material Discovery is slow</a:t>
            </a:r>
            <a:endParaRPr lang="en-US" sz="2400" b="1" i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n-US" sz="1600" dirty="0"/>
          </a:p>
          <a:p>
            <a:r>
              <a:rPr lang="en-US" sz="1200" dirty="0"/>
              <a:t>Battery performance depends on complex atomic interactions at electrode and solid-electrolyte interfaces. These interactions can involve strong electron correlation, which is difficult to model accurately.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Classical methods are useful for screening, but some approximations may miss important electronic </a:t>
            </a:r>
            <a:r>
              <a:rPr lang="en-US" sz="1200" dirty="0" err="1"/>
              <a:t>behaviour</a:t>
            </a:r>
            <a:r>
              <a:rPr lang="en-US" sz="1200" dirty="0"/>
              <a:t>. Testing every candidate physically is costly and time-consuming</a:t>
            </a:r>
            <a:r>
              <a:rPr lang="en-US" sz="1000" dirty="0"/>
              <a:t>.</a:t>
            </a:r>
            <a:endParaRPr lang="en-US" sz="1000" dirty="0"/>
          </a:p>
          <a:p>
            <a:endParaRPr lang="en-US" sz="1600" b="1" dirty="0"/>
          </a:p>
        </p:txBody>
      </p:sp>
      <p:sp>
        <p:nvSpPr>
          <p:cNvPr id="7" name="Card accent"/>
          <p:cNvSpPr/>
          <p:nvPr/>
        </p:nvSpPr>
        <p:spPr>
          <a:xfrm flipV="1">
            <a:off x="-278606" y="1378744"/>
            <a:ext cx="278606" cy="56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7844" y="1620049"/>
            <a:ext cx="3350419" cy="24947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350044" y="1562418"/>
            <a:ext cx="8229600" cy="302037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OUR NOVELTY</a:t>
            </a:r>
            <a:endParaRPr lang="en-IN" dirty="0"/>
          </a:p>
          <a:p>
            <a:r>
              <a:rPr lang="en-US" sz="1600" dirty="0"/>
              <a:t>One Interactive Platform   </a:t>
            </a:r>
            <a:r>
              <a:rPr lang="en-US" sz="1400" dirty="0"/>
              <a:t>Combines molecular exploration, quantum-classical energy comparison, and   		         visual analysis in one dashboard.</a:t>
            </a:r>
            <a:endParaRPr lang="en-US" sz="1400" dirty="0"/>
          </a:p>
          <a:p>
            <a:r>
              <a:rPr lang="en-US" sz="1600" dirty="0"/>
              <a:t>Transparent Results	</a:t>
            </a:r>
            <a:r>
              <a:rPr lang="en-US" sz="1400" dirty="0"/>
              <a:t>         Shows calculation errors and explains limitations, helping users understand</a:t>
            </a:r>
            <a:endParaRPr lang="en-US" sz="1400" dirty="0"/>
          </a:p>
          <a:p>
            <a:r>
              <a:rPr lang="en-US" sz="1400" dirty="0"/>
              <a:t>		         what the results mean for battery-related research.</a:t>
            </a:r>
            <a:endParaRPr lang="en-IN" sz="1400" dirty="0"/>
          </a:p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2068830" cy="504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10" name="Rectangle: Rounded Corners 9"/>
          <p:cNvSpPr/>
          <p:nvPr/>
        </p:nvSpPr>
        <p:spPr>
          <a:xfrm>
            <a:off x="3086101" y="1746505"/>
            <a:ext cx="2443162" cy="126815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50000"/>
                  </a:schemeClr>
                </a:solidFill>
              </a:rPr>
              <a:t>COMPARE</a:t>
            </a:r>
            <a:endParaRPr lang="en-US" sz="1400" b="1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r>
              <a:rPr lang="en-US" sz="1200" dirty="0">
                <a:solidFill>
                  <a:schemeClr val="tx2">
                    <a:lumMod val="50000"/>
                  </a:schemeClr>
                </a:solidFill>
              </a:rPr>
              <a:t>Compare VQE-calculated energies with classical exact-diagonalization results for the same molecular model and bond distance.</a:t>
            </a:r>
            <a:endParaRPr lang="en-IN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5679282" y="1746504"/>
            <a:ext cx="2443162" cy="126815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75000"/>
                  </a:schemeClr>
                </a:solidFill>
              </a:rPr>
              <a:t>VISUALISE</a:t>
            </a:r>
            <a:endParaRPr lang="en-US" sz="1400" b="1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sz="1200" dirty="0">
                <a:solidFill>
                  <a:schemeClr val="tx1">
                    <a:lumMod val="75000"/>
                  </a:schemeClr>
                </a:solidFill>
              </a:rPr>
              <a:t>Present interactive energy curves, calculation errors, and molecular properties through an easy-to-use </a:t>
            </a:r>
            <a:r>
              <a:rPr lang="en-US" sz="1200" dirty="0" err="1">
                <a:solidFill>
                  <a:schemeClr val="tx1">
                    <a:lumMod val="75000"/>
                  </a:schemeClr>
                </a:solidFill>
              </a:rPr>
              <a:t>Streamlit</a:t>
            </a:r>
            <a:r>
              <a:rPr lang="en-US" sz="1200" dirty="0">
                <a:solidFill>
                  <a:schemeClr val="tx1">
                    <a:lumMod val="75000"/>
                  </a:schemeClr>
                </a:solidFill>
              </a:rPr>
              <a:t> dashboard</a:t>
            </a:r>
            <a:r>
              <a:rPr lang="en-US" sz="1200" b="1" dirty="0">
                <a:solidFill>
                  <a:schemeClr val="tx1">
                    <a:lumMod val="75000"/>
                  </a:schemeClr>
                </a:solidFill>
              </a:rPr>
              <a:t>.</a:t>
            </a:r>
            <a:endParaRPr lang="en-IN" sz="12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564356" y="1746505"/>
            <a:ext cx="2235994" cy="126815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2">
                    <a:lumMod val="10000"/>
                  </a:schemeClr>
                </a:solidFill>
              </a:rPr>
              <a:t>EXPLORE</a:t>
            </a:r>
            <a:endParaRPr lang="en-IN" sz="1400" b="1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Study how molecular energy changes as the distance between atoms varies in  molecules.	</a:t>
            </a:r>
            <a:endParaRPr lang="en-IN" sz="1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341086" y="1536192"/>
            <a:ext cx="8345714" cy="313639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47088"/>
            <a:ext cx="8345713" cy="23636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b="1" dirty="0"/>
              <a:t>SOLUTION — Q-LITHOS</a:t>
            </a:r>
            <a:endParaRPr lang="en-US" b="1" dirty="0"/>
          </a:p>
          <a:p>
            <a:r>
              <a:rPr lang="en-US" sz="1200" dirty="0"/>
              <a:t>Q-</a:t>
            </a:r>
            <a:r>
              <a:rPr lang="en-US" sz="1200" dirty="0" err="1"/>
              <a:t>Lithos</a:t>
            </a:r>
            <a:r>
              <a:rPr lang="en-US" sz="1200" dirty="0"/>
              <a:t> uses </a:t>
            </a:r>
            <a:r>
              <a:rPr lang="en-US" sz="1200" dirty="0" err="1"/>
              <a:t>Qiskit’s</a:t>
            </a:r>
            <a:r>
              <a:rPr lang="en-US" sz="1200" dirty="0"/>
              <a:t> VQE to calculate molecular energies, compare them with classical results, and display the findings in an interactive dashboard.</a:t>
            </a:r>
            <a:endParaRPr lang="en-US" sz="1200" dirty="0"/>
          </a:p>
          <a:p>
            <a:r>
              <a:rPr lang="en-US" sz="1200" dirty="0"/>
              <a:t>HOW IT WORKS</a:t>
            </a:r>
            <a:endParaRPr lang="en-US" sz="1200" dirty="0"/>
          </a:p>
          <a:p>
            <a:r>
              <a:rPr lang="en-US" sz="1200" dirty="0"/>
              <a:t>Step	Description</a:t>
            </a:r>
            <a:endParaRPr lang="en-US" sz="1200" dirty="0"/>
          </a:p>
          <a:p>
            <a:r>
              <a:rPr lang="en-US" sz="1200" dirty="0"/>
              <a:t>1. Select	Choose a molecule for example, </a:t>
            </a:r>
            <a:r>
              <a:rPr lang="en-US" sz="1200" dirty="0" err="1"/>
              <a:t>LiH</a:t>
            </a:r>
            <a:r>
              <a:rPr lang="en-US" sz="1200" dirty="0"/>
              <a:t>, </a:t>
            </a:r>
            <a:r>
              <a:rPr lang="en-US" sz="1200" dirty="0" err="1"/>
              <a:t>NaH</a:t>
            </a:r>
            <a:r>
              <a:rPr lang="en-US" sz="1200" dirty="0"/>
              <a:t>, </a:t>
            </a:r>
            <a:r>
              <a:rPr lang="en-US" sz="1200" dirty="0" err="1"/>
              <a:t>NaF</a:t>
            </a:r>
            <a:r>
              <a:rPr lang="en-US" sz="1200" dirty="0"/>
              <a:t>, or Li₂.</a:t>
            </a:r>
            <a:endParaRPr lang="en-US" sz="1200" dirty="0"/>
          </a:p>
          <a:p>
            <a:r>
              <a:rPr lang="en-US" sz="1200" dirty="0"/>
              <a:t>2. Calculate	Run VQE on a local simulator and obtain classical reference energies.</a:t>
            </a:r>
            <a:endParaRPr lang="en-US" sz="1200" dirty="0"/>
          </a:p>
          <a:p>
            <a:r>
              <a:rPr lang="en-US" sz="1200" dirty="0"/>
              <a:t>3. Compare	Analyze energy curves and calculation errors.</a:t>
            </a:r>
            <a:endParaRPr lang="en-US" sz="1200" dirty="0"/>
          </a:p>
          <a:p>
            <a:r>
              <a:rPr lang="en-US" sz="1200" dirty="0"/>
              <a:t>4. Visualize	Explore results using the </a:t>
            </a:r>
            <a:r>
              <a:rPr lang="en-US" sz="1200" dirty="0" err="1"/>
              <a:t>Streamlit</a:t>
            </a:r>
            <a:r>
              <a:rPr lang="en-US" sz="1200" dirty="0"/>
              <a:t> dashboard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clrChange>
              <a:clrFrom>
                <a:srgbClr val="FDFDFD">
                  <a:alpha val="100000"/>
                </a:srgbClr>
              </a:clrFrom>
              <a:clrTo>
                <a:srgbClr val="FDFDFD">
                  <a:alpha val="100000"/>
                  <a:alpha val="0"/>
                </a:srgbClr>
              </a:clrTo>
            </a:clrChange>
          </a:blip>
          <a:srcRect l="-438" t="13608" b="19923"/>
          <a:stretch>
            <a:fillRect/>
          </a:stretch>
        </p:blipFill>
        <p:spPr>
          <a:xfrm>
            <a:off x="4433570" y="3267075"/>
            <a:ext cx="4253230" cy="12788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circuit diagram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qc.draw("mpl")</a:t>
            </a: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708468" y="1719072"/>
            <a:ext cx="3312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r>
              <a:rPr lang="en-IN" sz="1400" b="1" dirty="0"/>
              <a:t>Component      Method</a:t>
            </a:r>
            <a:endParaRPr lang="en-IN" sz="1400" b="1" dirty="0"/>
          </a:p>
          <a:p>
            <a:r>
              <a:rPr lang="en-IN" sz="1400" dirty="0"/>
              <a:t>Ansatz	      UCCSD</a:t>
            </a:r>
            <a:endParaRPr lang="en-IN" sz="1400" dirty="0"/>
          </a:p>
          <a:p>
            <a:r>
              <a:rPr lang="en-IN" sz="1400" dirty="0"/>
              <a:t>Optimizer           SLSQP</a:t>
            </a:r>
            <a:endParaRPr lang="en-IN" sz="1400" dirty="0"/>
          </a:p>
          <a:p>
            <a:r>
              <a:rPr lang="en-IN" sz="1400" dirty="0"/>
              <a:t>Simulator           Local ideal state vector</a:t>
            </a:r>
            <a:endParaRPr lang="en-IN" sz="1400" dirty="0"/>
          </a:p>
          <a:p>
            <a:r>
              <a:rPr lang="en-IN" sz="1400" dirty="0"/>
              <a:t>Reference          Classical exact </a:t>
            </a:r>
            <a:r>
              <a:rPr lang="en-US" altLang="en-IN" sz="1400" dirty="0"/>
              <a:t>		      </a:t>
            </a:r>
            <a:r>
              <a:rPr lang="en-IN" sz="1400" dirty="0"/>
              <a:t>diagonalization</a:t>
            </a:r>
            <a:endParaRPr lang="en-IN" sz="1400" dirty="0"/>
          </a:p>
        </p:txBody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4379" y="2541267"/>
            <a:ext cx="15241" cy="6096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4379" y="2541267"/>
            <a:ext cx="15241" cy="6096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4937760" cy="28707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300155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84048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400" b="1" dirty="0"/>
              <a:t>IMPLEMENTATION</a:t>
            </a:r>
            <a:endParaRPr lang="en-US" sz="1400" b="1" dirty="0"/>
          </a:p>
          <a:p>
            <a:r>
              <a:rPr lang="en-US" sz="1200" dirty="0"/>
              <a:t>Q-</a:t>
            </a:r>
            <a:r>
              <a:rPr lang="en-US" sz="1200" dirty="0" err="1"/>
              <a:t>Lithos</a:t>
            </a:r>
            <a:r>
              <a:rPr lang="en-US" sz="1200" dirty="0"/>
              <a:t> is built in Python with a </a:t>
            </a:r>
            <a:r>
              <a:rPr lang="en-US" sz="1200" dirty="0" err="1"/>
              <a:t>Streamlit</a:t>
            </a:r>
            <a:r>
              <a:rPr lang="en-US" sz="1200" dirty="0"/>
              <a:t> dashboard. It combines </a:t>
            </a:r>
            <a:r>
              <a:rPr lang="en-US" sz="1200" dirty="0" err="1"/>
              <a:t>Qiskit</a:t>
            </a:r>
            <a:r>
              <a:rPr lang="en-US" sz="1200" dirty="0"/>
              <a:t>-based VQE simulations, classical energy comparisons, and interactive visualizations.</a:t>
            </a:r>
            <a:endParaRPr lang="en-US" sz="1200" dirty="0"/>
          </a:p>
          <a:p>
            <a:r>
              <a:rPr lang="en-US" sz="1600" b="1" dirty="0"/>
              <a:t>TECH STACK</a:t>
            </a:r>
            <a:endParaRPr lang="en-US" sz="1600" b="1" dirty="0"/>
          </a:p>
          <a:p>
            <a:r>
              <a:rPr lang="en-US" sz="1200" b="1" dirty="0"/>
              <a:t>Component		Technology / Purpose</a:t>
            </a:r>
            <a:endParaRPr lang="en-US" sz="1200" b="1" dirty="0"/>
          </a:p>
          <a:p>
            <a:r>
              <a:rPr lang="en-US" sz="1200" dirty="0"/>
              <a:t>Programming		Python</a:t>
            </a:r>
            <a:endParaRPr lang="en-US" sz="1200" dirty="0"/>
          </a:p>
          <a:p>
            <a:r>
              <a:rPr lang="en-US" sz="1200" dirty="0"/>
              <a:t>Quantum Framework	</a:t>
            </a:r>
            <a:r>
              <a:rPr lang="en-US" sz="1200" dirty="0" err="1"/>
              <a:t>Qiskit</a:t>
            </a:r>
            <a:r>
              <a:rPr lang="en-US" sz="1200" dirty="0"/>
              <a:t>, </a:t>
            </a:r>
            <a:r>
              <a:rPr lang="en-US" sz="1200" dirty="0" err="1"/>
              <a:t>Qiskit</a:t>
            </a:r>
            <a:r>
              <a:rPr lang="en-US" sz="1200" dirty="0"/>
              <a:t> Nature</a:t>
            </a:r>
            <a:endParaRPr lang="en-US" sz="1200" dirty="0"/>
          </a:p>
          <a:p>
            <a:r>
              <a:rPr lang="en-US" sz="1200" dirty="0"/>
              <a:t>Molecular Chemistry	</a:t>
            </a:r>
            <a:r>
              <a:rPr lang="en-US" sz="1200" dirty="0" err="1"/>
              <a:t>PySCF</a:t>
            </a:r>
            <a:r>
              <a:rPr lang="en-US" sz="1200" dirty="0"/>
              <a:t>, where supported</a:t>
            </a:r>
            <a:endParaRPr lang="en-US" sz="1200" dirty="0"/>
          </a:p>
          <a:p>
            <a:r>
              <a:rPr lang="en-US" sz="1200" dirty="0"/>
              <a:t>Quantum Algorithm	VQE with UCCSD</a:t>
            </a:r>
            <a:endParaRPr lang="en-US" sz="1200" dirty="0"/>
          </a:p>
          <a:p>
            <a:r>
              <a:rPr lang="en-US" sz="1200" dirty="0"/>
              <a:t>Optimization		SLSQP</a:t>
            </a:r>
            <a:endParaRPr lang="en-US" sz="1200" dirty="0"/>
          </a:p>
          <a:p>
            <a:r>
              <a:rPr lang="en-US" sz="1200" dirty="0"/>
              <a:t>Simulation		Local </a:t>
            </a:r>
            <a:r>
              <a:rPr lang="en-US" sz="1200" dirty="0" err="1"/>
              <a:t>StatevectorEstimator</a:t>
            </a:r>
            <a:endParaRPr lang="en-US" sz="1200" dirty="0"/>
          </a:p>
          <a:p>
            <a:r>
              <a:rPr lang="en-US" sz="1200" dirty="0"/>
              <a:t>Classical Reference	Exact diagonalization</a:t>
            </a:r>
            <a:endParaRPr lang="en-US" sz="1200" dirty="0"/>
          </a:p>
          <a:p>
            <a:r>
              <a:rPr lang="en-US" sz="1200" dirty="0"/>
              <a:t>Dashboard		</a:t>
            </a:r>
            <a:r>
              <a:rPr lang="en-US" sz="1200" dirty="0" err="1"/>
              <a:t>Streamlit</a:t>
            </a:r>
            <a:endParaRPr lang="en-US" sz="1200" dirty="0"/>
          </a:p>
          <a:p>
            <a:r>
              <a:rPr lang="en-US" sz="1200" dirty="0"/>
              <a:t>Testing		</a:t>
            </a:r>
            <a:r>
              <a:rPr lang="en-US" sz="1200" dirty="0" err="1"/>
              <a:t>pytest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1020" y="1746250"/>
            <a:ext cx="4246880" cy="29254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585216" y="1764792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76656" y="1764792"/>
            <a:ext cx="4754880" cy="2852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results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Histogram, plot or table</a:t>
            </a: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614416" y="2097314"/>
            <a:ext cx="3370217" cy="252040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259" y="2269490"/>
            <a:ext cx="3003731" cy="3096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600" b="1" dirty="0"/>
              <a:t>RESULTS &amp; ANALYSIS</a:t>
            </a:r>
            <a:endParaRPr lang="en-US" sz="1600" b="1" dirty="0"/>
          </a:p>
          <a:p>
            <a:r>
              <a:rPr lang="en-US" sz="1600" dirty="0"/>
              <a:t>Q-</a:t>
            </a:r>
            <a:r>
              <a:rPr lang="en-US" sz="1600" dirty="0" err="1"/>
              <a:t>Lithos</a:t>
            </a:r>
            <a:r>
              <a:rPr lang="en-US" sz="1600" dirty="0"/>
              <a:t> compares molecular energies calculated using VQE with classical exact-diagonalization results. The dashboard visualizes energy changes across bond distances and helps examine calculation errors.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072" y="1691640"/>
            <a:ext cx="5296904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83080"/>
            <a:ext cx="6319085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600" b="1" dirty="0"/>
              <a:t>REAL-WORLD IMPACT</a:t>
            </a:r>
            <a:endParaRPr lang="en-US" sz="1600" b="1" dirty="0"/>
          </a:p>
          <a:p>
            <a:r>
              <a:rPr lang="en-US" sz="1200" dirty="0"/>
              <a:t>Q-</a:t>
            </a:r>
            <a:r>
              <a:rPr lang="en-US" sz="1200" dirty="0" err="1"/>
              <a:t>Lithos</a:t>
            </a:r>
            <a:r>
              <a:rPr lang="en-US" sz="1200" dirty="0"/>
              <a:t> makes quantum-chemistry calculations easier to explore and understand. By comparing VQE results with classical calculations, it helps users study molecular energy changes and evaluate the accuracy of quantum-algorithm results.</a:t>
            </a:r>
            <a:endParaRPr lang="en-US" sz="1200" dirty="0"/>
          </a:p>
          <a:p>
            <a:r>
              <a:rPr lang="en-US" sz="1200" dirty="0"/>
              <a:t>APPLICATIONS &amp; POTENTIAL IMPACT</a:t>
            </a:r>
            <a:endParaRPr lang="en-US" sz="1200" dirty="0"/>
          </a:p>
          <a:p>
            <a:r>
              <a:rPr lang="en-US" sz="1200" b="1" dirty="0"/>
              <a:t>Application	                           Potential Impact</a:t>
            </a:r>
            <a:endParaRPr lang="en-US" sz="1200" b="1" dirty="0"/>
          </a:p>
          <a:p>
            <a:r>
              <a:rPr lang="en-US" sz="1200" dirty="0"/>
              <a:t>Battery Chemistry Research	Explore the energy </a:t>
            </a:r>
            <a:r>
              <a:rPr lang="en-US" sz="1200" dirty="0" err="1"/>
              <a:t>behaviour</a:t>
            </a:r>
            <a:r>
              <a:rPr lang="en-US" sz="1200" dirty="0"/>
              <a:t> of selected battery-related molecules.</a:t>
            </a:r>
            <a:endParaRPr lang="en-US" sz="1200" dirty="0"/>
          </a:p>
          <a:p>
            <a:r>
              <a:rPr lang="en-US" sz="1200" dirty="0"/>
              <a:t>Quantum Algorithm Testing	Evaluate VQE results against classical reference calculations.</a:t>
            </a:r>
            <a:endParaRPr lang="en-US" sz="1200" dirty="0"/>
          </a:p>
          <a:p>
            <a:r>
              <a:rPr lang="en-US" sz="1200" dirty="0"/>
              <a:t>Scientific Learning	Help students understand molecular energy curves and quantum chemistry.</a:t>
            </a:r>
            <a:endParaRPr lang="en-US" sz="1200" dirty="0"/>
          </a:p>
          <a:p>
            <a:r>
              <a:rPr lang="en-US" sz="1200" dirty="0"/>
              <a:t>Early-Stage Exploration	Visualize results and identify questions for further research.</a:t>
            </a:r>
            <a:endParaRPr lang="en-US" sz="1200" dirty="0"/>
          </a:p>
          <a:p>
            <a:endParaRPr lang="en-US" sz="1200" dirty="0"/>
          </a:p>
          <a:p>
            <a:r>
              <a:rPr lang="en-US" sz="1400" b="1" dirty="0"/>
              <a:t>OUR IMPACT</a:t>
            </a:r>
            <a:endParaRPr lang="en-US" sz="1400" b="1" dirty="0"/>
          </a:p>
          <a:p>
            <a:r>
              <a:rPr lang="en-US" sz="1200" dirty="0"/>
              <a:t>Explore molecules. Compare calculations. Understand limitations.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4340" y="2685415"/>
            <a:ext cx="4899660" cy="30264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64792"/>
            <a:ext cx="8080830" cy="2852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400" b="1" dirty="0"/>
              <a:t>CURRENT CHALLENGES</a:t>
            </a:r>
            <a:endParaRPr lang="en-US" sz="1400" b="1" dirty="0"/>
          </a:p>
          <a:p>
            <a:r>
              <a:rPr lang="en-US" sz="1200" b="1" dirty="0"/>
              <a:t>Challenge</a:t>
            </a:r>
            <a:r>
              <a:rPr lang="en-US" sz="1200" dirty="0"/>
              <a:t>	</a:t>
            </a:r>
            <a:r>
              <a:rPr lang="en-US" sz="1200" b="1" dirty="0"/>
              <a:t>                          What it means</a:t>
            </a:r>
            <a:endParaRPr lang="en-US" sz="1200" b="1" dirty="0"/>
          </a:p>
          <a:p>
            <a:r>
              <a:rPr lang="en-US" sz="1200" dirty="0"/>
              <a:t>Limited Molecules	Currently explores </a:t>
            </a:r>
            <a:r>
              <a:rPr lang="en-US" sz="1200" dirty="0" err="1"/>
              <a:t>LiH</a:t>
            </a:r>
            <a:r>
              <a:rPr lang="en-US" sz="1200" dirty="0"/>
              <a:t>, </a:t>
            </a:r>
            <a:r>
              <a:rPr lang="en-US" sz="1200" dirty="0" err="1"/>
              <a:t>NaH</a:t>
            </a:r>
            <a:r>
              <a:rPr lang="en-US" sz="1200" dirty="0"/>
              <a:t>, </a:t>
            </a:r>
            <a:r>
              <a:rPr lang="en-US" sz="1200" dirty="0" err="1"/>
              <a:t>NaF</a:t>
            </a:r>
            <a:r>
              <a:rPr lang="en-US" sz="1200" dirty="0"/>
              <a:t>, and Li₂.</a:t>
            </a:r>
            <a:endParaRPr lang="en-US" sz="1200" dirty="0"/>
          </a:p>
          <a:p>
            <a:r>
              <a:rPr lang="en-US" sz="1200" dirty="0"/>
              <a:t>Model Accuracy	Results depend on the chosen basis set and active space.</a:t>
            </a:r>
            <a:endParaRPr lang="en-US" sz="1200" dirty="0"/>
          </a:p>
          <a:p>
            <a:r>
              <a:rPr lang="en-US" sz="1200" dirty="0"/>
              <a:t>Small-Molecule Models	Current calculations do not represent complete battery materials.</a:t>
            </a:r>
            <a:endParaRPr lang="en-US" sz="1200" dirty="0"/>
          </a:p>
          <a:p>
            <a:r>
              <a:rPr lang="en-US" sz="1200" dirty="0"/>
              <a:t>Simulation Limits	Uses an ideal local simulator, not physical quantum hardware.</a:t>
            </a:r>
            <a:endParaRPr lang="en-US" sz="1200" dirty="0"/>
          </a:p>
          <a:p>
            <a:endParaRPr lang="en-US" sz="1200" dirty="0"/>
          </a:p>
          <a:p>
            <a:r>
              <a:rPr lang="en-US" sz="1400" b="1" dirty="0"/>
              <a:t>FUTURE SCOPE</a:t>
            </a:r>
            <a:endParaRPr lang="en-US" sz="1400" b="1" dirty="0"/>
          </a:p>
          <a:p>
            <a:r>
              <a:rPr lang="en-US" sz="1200" b="1" dirty="0"/>
              <a:t>Planned Improvement</a:t>
            </a:r>
            <a:r>
              <a:rPr lang="en-US" sz="1200" dirty="0"/>
              <a:t>	</a:t>
            </a:r>
            <a:r>
              <a:rPr lang="en-US" sz="1200" b="1" dirty="0"/>
              <a:t>Our Direction</a:t>
            </a:r>
            <a:endParaRPr lang="en-US" sz="1200" b="1" dirty="0"/>
          </a:p>
          <a:p>
            <a:r>
              <a:rPr lang="en-US" sz="1200" dirty="0"/>
              <a:t>Add More Molecules	Introduce more battery-relevant molecules selected for scientific value and computational feasibility.</a:t>
            </a:r>
            <a:endParaRPr lang="en-US" sz="1200" dirty="0"/>
          </a:p>
          <a:p>
            <a:r>
              <a:rPr lang="en-US" sz="1200" dirty="0"/>
              <a:t>Improve Accuracy	Test larger basis sets and validate energy calculations and cached results.</a:t>
            </a:r>
            <a:endParaRPr lang="en-US" sz="1200" dirty="0"/>
          </a:p>
          <a:p>
            <a:r>
              <a:rPr lang="en-US" sz="1200" dirty="0"/>
              <a:t>Study Real Materials	Progress towards modelling interfaces, ion movement, and material properties using suitable methods.</a:t>
            </a:r>
            <a:endParaRPr lang="en-US" sz="1200" dirty="0"/>
          </a:p>
          <a:p>
            <a:r>
              <a:rPr lang="en-US" sz="1200" dirty="0"/>
              <a:t>Explore Quantum Hardware	Investigate hardware execution and noise-aware simulations when feasible.</a:t>
            </a:r>
            <a:endParaRPr lang="en-US" sz="1200" dirty="0"/>
          </a:p>
          <a:p>
            <a:r>
              <a:rPr lang="en-US" sz="1200" dirty="0"/>
              <a:t>Connect to Sensing	Explore a suitable chemistry-related sensing application as a future extension.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clrChange>
              <a:clrFrom>
                <a:srgbClr val="FEFEFD">
                  <a:alpha val="100000"/>
                </a:srgbClr>
              </a:clrFrom>
              <a:clrTo>
                <a:srgbClr val="FEFEFD">
                  <a:alpha val="100000"/>
                  <a:alpha val="0"/>
                </a:srgbClr>
              </a:clrTo>
            </a:clrChange>
          </a:blip>
          <a:srcRect t="33354" b="36589"/>
          <a:stretch>
            <a:fillRect/>
          </a:stretch>
        </p:blipFill>
        <p:spPr>
          <a:xfrm>
            <a:off x="3372485" y="2893060"/>
            <a:ext cx="5036185" cy="5962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r>
              <a:rPr lang="en-US" sz="900" b="1" kern="0" spc="10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REPO</a:t>
            </a:r>
            <a:endParaRPr lang="en-US" sz="900" b="1" kern="0" spc="100">
              <a:solidFill>
                <a:srgbClr val="5B3B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sz="900" kern="0" spc="10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https://github.com/vtu-qiskit-fall-fest-2026/vtu-hc-anonymous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92608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VIDEO LINK</a:t>
            </a:r>
            <a:endParaRPr lang="en-US" sz="900" dirty="0"/>
          </a:p>
          <a:p>
            <a:r>
              <a:rPr lang="en-US" sz="900" dirty="0"/>
              <a:t>https://youtu.be/ediQHrTX8oo</a:t>
            </a:r>
            <a:endParaRPr 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24128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4958</Words>
  <Application>WPS Presentation</Application>
  <PresentationFormat>On-screen Show (16:9)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Nirmala UI</vt:lpstr>
      <vt:lpstr>Nirmala UI</vt:lpstr>
      <vt:lpstr>Nirmala UI</vt:lpstr>
      <vt:lpstr>Calibri</vt:lpstr>
      <vt:lpstr>Calibri</vt:lpstr>
      <vt:lpstr>Calibri</vt:lpstr>
      <vt:lpstr>Georgia</vt:lpstr>
      <vt:lpstr>Georgia</vt:lpstr>
      <vt:lpstr>Georgia</vt:lpstr>
      <vt:lpstr>Microsoft YaHei</vt:lpstr>
      <vt:lpstr>Arial Unicode MS</vt:lpstr>
      <vt:lpstr>Aptos</vt:lpstr>
      <vt:lpstr>Segoe Print</vt:lpstr>
      <vt:lpstr>Qiskit Fall Fest</vt:lpstr>
      <vt:lpstr>PowerPoint 演示文稿</vt:lpstr>
      <vt:lpstr>Problem Statement</vt:lpstr>
      <vt:lpstr>Objectives &amp; Novelty</vt:lpstr>
      <vt:lpstr>Solution &amp; Quantum Advantage</vt:lpstr>
      <vt:lpstr>Algorithm &amp; Circuit Design</vt:lpstr>
      <vt:lpstr>Implementation &amp; Tech Stack</vt:lpstr>
      <vt:lpstr>Results &amp; Analysis</vt:lpstr>
      <vt:lpstr>Impact &amp; Real-World Applications</vt:lpstr>
      <vt:lpstr>Challenges &amp; Future Scope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</dc:creator>
  <cp:lastModifiedBy>Veeresh</cp:lastModifiedBy>
  <cp:revision>8</cp:revision>
  <dcterms:created xsi:type="dcterms:W3CDTF">2026-10-23T12:55:00Z</dcterms:created>
  <dcterms:modified xsi:type="dcterms:W3CDTF">2026-10-25T16:07:19Z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1033-11.2.0.9967</vt:lpwstr>
  </property>
</Properties>
</file>