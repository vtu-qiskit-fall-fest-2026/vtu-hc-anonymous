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9850"/>
  <p:notesSz cx="9144000" cy="5149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9" autoAdjust="0"/>
    <p:restoredTop sz="94660"/>
  </p:normalViewPr>
  <p:slideViewPr>
    <p:cSldViewPr>
      <p:cViewPr varScale="1">
        <p:scale>
          <a:sx n="119" d="100"/>
          <a:sy n="119" d="100"/>
        </p:scale>
        <p:origin x="2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8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06485-AD4E-494D-A415-FD241B8BA549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30538" y="644525"/>
            <a:ext cx="3082925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8088"/>
            <a:ext cx="7315200" cy="20288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91088"/>
            <a:ext cx="3962400" cy="2587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4FCC8-0386-4533-959A-758E10202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37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44FCC8-0386-4533-959A-758E102020B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11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6453"/>
            <a:ext cx="7772400" cy="10814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3916"/>
            <a:ext cx="6400800" cy="1287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4465"/>
            <a:ext cx="397764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8367"/>
            <a:ext cx="9144000" cy="4486910"/>
          </a:xfrm>
          <a:custGeom>
            <a:avLst/>
            <a:gdLst/>
            <a:ahLst/>
            <a:cxnLst/>
            <a:rect l="l" t="t" r="r" b="b"/>
            <a:pathLst>
              <a:path w="9144000" h="4486910">
                <a:moveTo>
                  <a:pt x="0" y="4486655"/>
                </a:moveTo>
                <a:lnTo>
                  <a:pt x="9144000" y="4486655"/>
                </a:lnTo>
                <a:lnTo>
                  <a:pt x="9144000" y="0"/>
                </a:lnTo>
                <a:lnTo>
                  <a:pt x="0" y="0"/>
                </a:lnTo>
                <a:lnTo>
                  <a:pt x="0" y="4486655"/>
                </a:lnTo>
                <a:close/>
              </a:path>
            </a:pathLst>
          </a:custGeom>
          <a:solidFill>
            <a:srgbClr val="DDE1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9144000" y="0"/>
                </a:moveTo>
                <a:lnTo>
                  <a:pt x="0" y="0"/>
                </a:lnTo>
                <a:lnTo>
                  <a:pt x="0" y="658368"/>
                </a:lnTo>
                <a:lnTo>
                  <a:pt x="9144000" y="658368"/>
                </a:lnTo>
                <a:lnTo>
                  <a:pt x="9144000" y="0"/>
                </a:lnTo>
                <a:close/>
              </a:path>
            </a:pathLst>
          </a:custGeom>
          <a:solidFill>
            <a:srgbClr val="CAD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658495"/>
          </a:xfrm>
          <a:custGeom>
            <a:avLst/>
            <a:gdLst/>
            <a:ahLst/>
            <a:cxnLst/>
            <a:rect l="l" t="t" r="r" b="b"/>
            <a:pathLst>
              <a:path w="9144000" h="658495">
                <a:moveTo>
                  <a:pt x="0" y="658368"/>
                </a:moveTo>
                <a:lnTo>
                  <a:pt x="9144000" y="658368"/>
                </a:lnTo>
                <a:lnTo>
                  <a:pt x="9144000" y="0"/>
                </a:lnTo>
                <a:lnTo>
                  <a:pt x="0" y="0"/>
                </a:lnTo>
                <a:lnTo>
                  <a:pt x="0" y="658368"/>
                </a:lnTo>
                <a:close/>
              </a:path>
            </a:pathLst>
          </a:custGeom>
          <a:ln w="12192">
            <a:solidFill>
              <a:srgbClr val="CAD1F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3054096" y="0"/>
                </a:moveTo>
                <a:lnTo>
                  <a:pt x="0" y="0"/>
                </a:lnTo>
                <a:lnTo>
                  <a:pt x="0" y="45720"/>
                </a:lnTo>
                <a:lnTo>
                  <a:pt x="3054096" y="45720"/>
                </a:lnTo>
                <a:lnTo>
                  <a:pt x="3054096" y="0"/>
                </a:lnTo>
                <a:close/>
              </a:path>
            </a:pathLst>
          </a:custGeom>
          <a:solidFill>
            <a:srgbClr val="7B92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0" y="45720"/>
                </a:moveTo>
                <a:lnTo>
                  <a:pt x="3054096" y="45720"/>
                </a:lnTo>
                <a:lnTo>
                  <a:pt x="3054096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12192">
            <a:solidFill>
              <a:srgbClr val="7B92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54096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3054096" y="0"/>
                </a:moveTo>
                <a:lnTo>
                  <a:pt x="0" y="0"/>
                </a:lnTo>
                <a:lnTo>
                  <a:pt x="0" y="45720"/>
                </a:lnTo>
                <a:lnTo>
                  <a:pt x="3054096" y="45720"/>
                </a:lnTo>
                <a:lnTo>
                  <a:pt x="3054096" y="0"/>
                </a:lnTo>
                <a:close/>
              </a:path>
            </a:pathLst>
          </a:custGeom>
          <a:solidFill>
            <a:srgbClr val="E86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054096" y="658367"/>
            <a:ext cx="3054350" cy="45720"/>
          </a:xfrm>
          <a:custGeom>
            <a:avLst/>
            <a:gdLst/>
            <a:ahLst/>
            <a:cxnLst/>
            <a:rect l="l" t="t" r="r" b="b"/>
            <a:pathLst>
              <a:path w="3054350" h="45720">
                <a:moveTo>
                  <a:pt x="0" y="45720"/>
                </a:moveTo>
                <a:lnTo>
                  <a:pt x="3054096" y="45720"/>
                </a:lnTo>
                <a:lnTo>
                  <a:pt x="3054096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ln w="12192">
            <a:solidFill>
              <a:srgbClr val="E8629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099048" y="658367"/>
            <a:ext cx="3045460" cy="45720"/>
          </a:xfrm>
          <a:custGeom>
            <a:avLst/>
            <a:gdLst/>
            <a:ahLst/>
            <a:cxnLst/>
            <a:rect l="l" t="t" r="r" b="b"/>
            <a:pathLst>
              <a:path w="3045459" h="45720">
                <a:moveTo>
                  <a:pt x="3044952" y="0"/>
                </a:moveTo>
                <a:lnTo>
                  <a:pt x="0" y="0"/>
                </a:lnTo>
                <a:lnTo>
                  <a:pt x="0" y="45720"/>
                </a:lnTo>
                <a:lnTo>
                  <a:pt x="3044952" y="45720"/>
                </a:lnTo>
                <a:lnTo>
                  <a:pt x="3044952" y="0"/>
                </a:lnTo>
                <a:close/>
              </a:path>
            </a:pathLst>
          </a:custGeom>
          <a:solidFill>
            <a:srgbClr val="5B3A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099048" y="658367"/>
            <a:ext cx="3045460" cy="45720"/>
          </a:xfrm>
          <a:custGeom>
            <a:avLst/>
            <a:gdLst/>
            <a:ahLst/>
            <a:cxnLst/>
            <a:rect l="l" t="t" r="r" b="b"/>
            <a:pathLst>
              <a:path w="3045459" h="45720">
                <a:moveTo>
                  <a:pt x="3044952" y="0"/>
                </a:moveTo>
                <a:lnTo>
                  <a:pt x="0" y="0"/>
                </a:lnTo>
                <a:lnTo>
                  <a:pt x="0" y="45720"/>
                </a:lnTo>
                <a:lnTo>
                  <a:pt x="3044952" y="45720"/>
                </a:lnTo>
              </a:path>
            </a:pathLst>
          </a:custGeom>
          <a:ln w="12192">
            <a:solidFill>
              <a:srgbClr val="5B3A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760" y="91439"/>
            <a:ext cx="475488" cy="4754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994"/>
            <a:ext cx="8229600" cy="823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4465"/>
            <a:ext cx="8229600" cy="33989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57441" y="4947767"/>
            <a:ext cx="1196340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rgbClr val="5B3AA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4804" y="4947767"/>
            <a:ext cx="3572510" cy="132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76995" y="4943347"/>
            <a:ext cx="249554" cy="141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2D1B5B"/>
                </a:solidFill>
                <a:latin typeface="Calibri"/>
                <a:cs typeface="Calibri"/>
              </a:defRPr>
            </a:lvl1pPr>
          </a:lstStyle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youtu.be/ediQHrTX8o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4834890"/>
            <a:chOff x="-6350" y="-6350"/>
            <a:chExt cx="9156700" cy="4834890"/>
          </a:xfrm>
        </p:grpSpPr>
        <p:sp>
          <p:nvSpPr>
            <p:cNvPr id="3" name="object 3"/>
            <p:cNvSpPr/>
            <p:nvPr/>
          </p:nvSpPr>
          <p:spPr>
            <a:xfrm>
              <a:off x="0" y="658367"/>
              <a:ext cx="9144000" cy="4170045"/>
            </a:xfrm>
            <a:custGeom>
              <a:avLst/>
              <a:gdLst/>
              <a:ahLst/>
              <a:cxnLst/>
              <a:rect l="l" t="t" r="r" b="b"/>
              <a:pathLst>
                <a:path w="9144000" h="4170045">
                  <a:moveTo>
                    <a:pt x="0" y="4169663"/>
                  </a:moveTo>
                  <a:lnTo>
                    <a:pt x="9144000" y="416966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169663"/>
                  </a:lnTo>
                  <a:close/>
                </a:path>
              </a:pathLst>
            </a:custGeom>
            <a:solidFill>
              <a:srgbClr val="DDE1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58495"/>
            </a:xfrm>
            <a:custGeom>
              <a:avLst/>
              <a:gdLst/>
              <a:ahLst/>
              <a:cxnLst/>
              <a:rect l="l" t="t" r="r" b="b"/>
              <a:pathLst>
                <a:path w="9144000" h="658495">
                  <a:moveTo>
                    <a:pt x="9144000" y="0"/>
                  </a:moveTo>
                  <a:lnTo>
                    <a:pt x="0" y="0"/>
                  </a:lnTo>
                  <a:lnTo>
                    <a:pt x="0" y="658368"/>
                  </a:lnTo>
                  <a:lnTo>
                    <a:pt x="9144000" y="65836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658495"/>
            </a:xfrm>
            <a:custGeom>
              <a:avLst/>
              <a:gdLst/>
              <a:ahLst/>
              <a:cxnLst/>
              <a:rect l="l" t="t" r="r" b="b"/>
              <a:pathLst>
                <a:path w="9144000" h="658495">
                  <a:moveTo>
                    <a:pt x="0" y="658368"/>
                  </a:moveTo>
                  <a:lnTo>
                    <a:pt x="9144000" y="65836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58368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30540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54096" y="45720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0" y="45720"/>
                  </a:moveTo>
                  <a:lnTo>
                    <a:pt x="3054096" y="45720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54095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3054096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54096" y="45720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54095" y="658367"/>
              <a:ext cx="3054350" cy="45720"/>
            </a:xfrm>
            <a:custGeom>
              <a:avLst/>
              <a:gdLst/>
              <a:ahLst/>
              <a:cxnLst/>
              <a:rect l="l" t="t" r="r" b="b"/>
              <a:pathLst>
                <a:path w="3054350" h="45720">
                  <a:moveTo>
                    <a:pt x="0" y="45720"/>
                  </a:moveTo>
                  <a:lnTo>
                    <a:pt x="3054096" y="45720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9047" y="658367"/>
              <a:ext cx="3045460" cy="45720"/>
            </a:xfrm>
            <a:custGeom>
              <a:avLst/>
              <a:gdLst/>
              <a:ahLst/>
              <a:cxnLst/>
              <a:rect l="l" t="t" r="r" b="b"/>
              <a:pathLst>
                <a:path w="3045459" h="45720">
                  <a:moveTo>
                    <a:pt x="304495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44952" y="45720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9047" y="658367"/>
              <a:ext cx="3045460" cy="45720"/>
            </a:xfrm>
            <a:custGeom>
              <a:avLst/>
              <a:gdLst/>
              <a:ahLst/>
              <a:cxnLst/>
              <a:rect l="l" t="t" r="r" b="b"/>
              <a:pathLst>
                <a:path w="3045459" h="45720">
                  <a:moveTo>
                    <a:pt x="304495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3044952" y="45720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59" y="91439"/>
              <a:ext cx="475488" cy="4754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6350" y="91439"/>
            <a:ext cx="9156700" cy="5060315"/>
            <a:chOff x="-6350" y="91439"/>
            <a:chExt cx="9156700" cy="50603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1103" y="91439"/>
              <a:ext cx="612648" cy="47548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2752" y="91439"/>
              <a:ext cx="475488" cy="4754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54095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54095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99047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9047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 descr="spher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291839"/>
              <a:ext cx="1371600" cy="1371600"/>
            </a:xfrm>
            <a:prstGeom prst="rect">
              <a:avLst/>
            </a:prstGeom>
          </p:spPr>
        </p:pic>
        <p:pic>
          <p:nvPicPr>
            <p:cNvPr id="26" name="object 26" descr="bird1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8839" y="3428999"/>
              <a:ext cx="731519" cy="438912"/>
            </a:xfrm>
            <a:prstGeom prst="rect">
              <a:avLst/>
            </a:prstGeom>
          </p:spPr>
        </p:pic>
        <p:pic>
          <p:nvPicPr>
            <p:cNvPr id="27" name="object 27" descr="bird2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0360" y="3977639"/>
              <a:ext cx="502920" cy="301752"/>
            </a:xfrm>
            <a:prstGeom prst="rect">
              <a:avLst/>
            </a:prstGeom>
          </p:spPr>
        </p:pic>
        <p:pic>
          <p:nvPicPr>
            <p:cNvPr id="28" name="object 28" descr="bird3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31720" y="4297680"/>
              <a:ext cx="384048" cy="2286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024884" y="1235963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46085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4608575" y="530351"/>
                  </a:lnTo>
                  <a:lnTo>
                    <a:pt x="4629953" y="526047"/>
                  </a:lnTo>
                  <a:lnTo>
                    <a:pt x="4647390" y="514302"/>
                  </a:lnTo>
                  <a:lnTo>
                    <a:pt x="4659135" y="496865"/>
                  </a:lnTo>
                  <a:lnTo>
                    <a:pt x="4663440" y="475488"/>
                  </a:lnTo>
                  <a:lnTo>
                    <a:pt x="4663440" y="54863"/>
                  </a:lnTo>
                  <a:lnTo>
                    <a:pt x="4659135" y="33486"/>
                  </a:lnTo>
                  <a:lnTo>
                    <a:pt x="4647390" y="16049"/>
                  </a:lnTo>
                  <a:lnTo>
                    <a:pt x="4629953" y="4304"/>
                  </a:lnTo>
                  <a:lnTo>
                    <a:pt x="4608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024884" y="1235963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4608575" y="0"/>
                  </a:lnTo>
                  <a:lnTo>
                    <a:pt x="4629953" y="4304"/>
                  </a:lnTo>
                  <a:lnTo>
                    <a:pt x="4647390" y="16049"/>
                  </a:lnTo>
                  <a:lnTo>
                    <a:pt x="4659135" y="33486"/>
                  </a:lnTo>
                  <a:lnTo>
                    <a:pt x="4663440" y="54863"/>
                  </a:lnTo>
                  <a:lnTo>
                    <a:pt x="4663440" y="475488"/>
                  </a:lnTo>
                  <a:lnTo>
                    <a:pt x="4659135" y="496865"/>
                  </a:lnTo>
                  <a:lnTo>
                    <a:pt x="4647390" y="514302"/>
                  </a:lnTo>
                  <a:lnTo>
                    <a:pt x="4629953" y="526047"/>
                  </a:lnTo>
                  <a:lnTo>
                    <a:pt x="4608575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353683" y="50487"/>
            <a:ext cx="183070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1651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1B5B"/>
                </a:solidFill>
                <a:latin typeface="Calibri"/>
                <a:cs typeface="Calibri"/>
              </a:rPr>
              <a:t>2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1B5B"/>
                </a:solidFill>
                <a:latin typeface="Calibri"/>
                <a:cs typeface="Calibri"/>
              </a:rPr>
              <a:t>0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2D1B5B"/>
                </a:solidFill>
                <a:latin typeface="Calibri"/>
                <a:cs typeface="Calibri"/>
              </a:rPr>
              <a:t>2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6</a:t>
            </a:r>
            <a:endParaRPr sz="11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4804" y="893191"/>
            <a:ext cx="24574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P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A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R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C</a:t>
            </a:r>
            <a:r>
              <a:rPr sz="1000" b="1" spc="5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P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A</a:t>
            </a:r>
            <a:r>
              <a:rPr sz="1000" b="1" spc="5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r>
              <a:rPr sz="1000" b="1" spc="6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155" dirty="0">
                <a:solidFill>
                  <a:srgbClr val="E8629F"/>
                </a:solidFill>
                <a:latin typeface="Calibri"/>
                <a:cs typeface="Calibri"/>
              </a:rPr>
              <a:t> 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P</a:t>
            </a:r>
            <a:r>
              <a:rPr sz="1000" b="1" spc="8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R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E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S</a:t>
            </a:r>
            <a:r>
              <a:rPr sz="1000" b="1" spc="8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E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r>
              <a:rPr sz="1000" b="1" spc="6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A</a:t>
            </a:r>
            <a:r>
              <a:rPr sz="1000" b="1" spc="5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T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5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O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12184" y="816991"/>
            <a:ext cx="199136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solidFill>
                  <a:srgbClr val="2D1B5B"/>
                </a:solidFill>
                <a:latin typeface="Georgia"/>
                <a:cs typeface="Georgia"/>
              </a:rPr>
              <a:t>Participant</a:t>
            </a:r>
            <a:r>
              <a:rPr sz="1600" b="1" spc="-7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Georgia"/>
                <a:cs typeface="Georgia"/>
              </a:rPr>
              <a:t>Details</a:t>
            </a:r>
            <a:endParaRPr sz="16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44804" y="1194892"/>
            <a:ext cx="2127885" cy="2025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800" b="1" spc="-10" dirty="0">
                <a:solidFill>
                  <a:srgbClr val="2D1B5B"/>
                </a:solidFill>
                <a:latin typeface="Georgia"/>
                <a:cs typeface="Georgia"/>
              </a:rPr>
              <a:t>Qiskit </a:t>
            </a:r>
            <a:r>
              <a:rPr sz="3800" b="1" dirty="0">
                <a:solidFill>
                  <a:srgbClr val="E8629F"/>
                </a:solidFill>
                <a:latin typeface="Georgia"/>
                <a:cs typeface="Georgia"/>
              </a:rPr>
              <a:t>Fall</a:t>
            </a:r>
            <a:r>
              <a:rPr sz="3800" b="1" spc="-80" dirty="0">
                <a:solidFill>
                  <a:srgbClr val="E8629F"/>
                </a:solidFill>
                <a:latin typeface="Georgia"/>
                <a:cs typeface="Georgia"/>
              </a:rPr>
              <a:t> </a:t>
            </a:r>
            <a:r>
              <a:rPr sz="3800" b="1" spc="-20" dirty="0">
                <a:solidFill>
                  <a:srgbClr val="E8629F"/>
                </a:solidFill>
                <a:latin typeface="Georgia"/>
                <a:cs typeface="Georgia"/>
              </a:rPr>
              <a:t>Fest </a:t>
            </a:r>
            <a:r>
              <a:rPr sz="3800" b="1" spc="-20" dirty="0">
                <a:solidFill>
                  <a:srgbClr val="2D1B5B"/>
                </a:solidFill>
                <a:latin typeface="Georgia"/>
                <a:cs typeface="Georgia"/>
              </a:rPr>
              <a:t>2026</a:t>
            </a:r>
            <a:endParaRPr sz="3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300" dirty="0">
                <a:solidFill>
                  <a:srgbClr val="494380"/>
                </a:solidFill>
                <a:latin typeface="Calibri"/>
                <a:cs typeface="Calibri"/>
              </a:rPr>
              <a:t>Hackathon</a:t>
            </a:r>
            <a:r>
              <a:rPr sz="1300" spc="-10" dirty="0">
                <a:solidFill>
                  <a:srgbClr val="494380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494380"/>
                </a:solidFill>
                <a:latin typeface="Calibri"/>
                <a:cs typeface="Calibri"/>
              </a:rPr>
              <a:t>·</a:t>
            </a:r>
            <a:r>
              <a:rPr sz="1300" spc="-55" dirty="0">
                <a:solidFill>
                  <a:srgbClr val="494380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494380"/>
                </a:solidFill>
                <a:latin typeface="Calibri"/>
                <a:cs typeface="Calibri"/>
              </a:rPr>
              <a:t>Team</a:t>
            </a:r>
            <a:r>
              <a:rPr sz="1300" spc="-50" dirty="0">
                <a:solidFill>
                  <a:srgbClr val="494380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494380"/>
                </a:solidFill>
                <a:latin typeface="Calibri"/>
                <a:cs typeface="Calibri"/>
              </a:rPr>
              <a:t>Details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24884" y="1235963"/>
            <a:ext cx="4663440" cy="444994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50"/>
              </a:spcBef>
            </a:pPr>
            <a:r>
              <a:rPr sz="1100" b="1" spc="95" dirty="0">
                <a:solidFill>
                  <a:srgbClr val="5B3AA8"/>
                </a:solidFill>
                <a:latin typeface="Calibri"/>
                <a:cs typeface="Calibri"/>
              </a:rPr>
              <a:t>Q-</a:t>
            </a:r>
            <a:r>
              <a:rPr sz="1100" b="1" spc="65" dirty="0" err="1">
                <a:solidFill>
                  <a:srgbClr val="5B3AA8"/>
                </a:solidFill>
                <a:latin typeface="Calibri"/>
                <a:cs typeface="Calibri"/>
              </a:rPr>
              <a:t>Lithos</a:t>
            </a:r>
            <a:r>
              <a:rPr lang="en-US" sz="1100" b="1" spc="65" dirty="0">
                <a:solidFill>
                  <a:srgbClr val="5B3AA8"/>
                </a:solidFill>
                <a:latin typeface="Calibri"/>
                <a:cs typeface="Calibri"/>
              </a:rPr>
              <a:t> -</a:t>
            </a:r>
            <a:endParaRPr sz="1100" dirty="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1000" b="1" spc="80" dirty="0">
                <a:solidFill>
                  <a:srgbClr val="5B3AA8"/>
                </a:solidFill>
                <a:latin typeface="Calibri"/>
                <a:cs typeface="Calibri"/>
              </a:rPr>
              <a:t>Hybrid</a:t>
            </a:r>
            <a:r>
              <a:rPr sz="1000" b="1" spc="17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90" dirty="0">
                <a:solidFill>
                  <a:srgbClr val="5B3AA8"/>
                </a:solidFill>
                <a:latin typeface="Calibri"/>
                <a:cs typeface="Calibri"/>
              </a:rPr>
              <a:t>Quantum-</a:t>
            </a:r>
            <a:r>
              <a:rPr sz="1000" b="1" spc="15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Classical</a:t>
            </a:r>
            <a:r>
              <a:rPr sz="100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simulation</a:t>
            </a:r>
            <a:r>
              <a:rPr sz="1000" b="1" spc="22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65" dirty="0">
                <a:solidFill>
                  <a:srgbClr val="5B3AA8"/>
                </a:solidFill>
                <a:latin typeface="Calibri"/>
                <a:cs typeface="Calibri"/>
              </a:rPr>
              <a:t>for</a:t>
            </a:r>
            <a:r>
              <a:rPr sz="100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Battery</a:t>
            </a:r>
            <a:r>
              <a:rPr sz="1000" b="1" spc="14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5B3AA8"/>
                </a:solidFill>
                <a:latin typeface="Calibri"/>
                <a:cs typeface="Calibri"/>
              </a:rPr>
              <a:t>material</a:t>
            </a:r>
            <a:r>
              <a:rPr sz="1000" b="1" spc="20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00" b="1" spc="75" dirty="0">
                <a:solidFill>
                  <a:srgbClr val="5B3AA8"/>
                </a:solidFill>
                <a:latin typeface="Calibri"/>
                <a:cs typeface="Calibri"/>
              </a:rPr>
              <a:t>screening</a:t>
            </a:r>
            <a:endParaRPr sz="1000" dirty="0"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020121" y="1849945"/>
            <a:ext cx="2295525" cy="540385"/>
            <a:chOff x="4020121" y="1849945"/>
            <a:chExt cx="2295525" cy="540385"/>
          </a:xfrm>
        </p:grpSpPr>
        <p:sp>
          <p:nvSpPr>
            <p:cNvPr id="37" name="object 37"/>
            <p:cNvSpPr/>
            <p:nvPr/>
          </p:nvSpPr>
          <p:spPr>
            <a:xfrm>
              <a:off x="4024884" y="18547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6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24884" y="18547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6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6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024884" y="1854707"/>
            <a:ext cx="2286000" cy="5308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79375" marR="161925">
              <a:lnSpc>
                <a:spcPts val="1250"/>
              </a:lnSpc>
              <a:spcBef>
                <a:spcPts val="994"/>
              </a:spcBef>
            </a:pPr>
            <a:r>
              <a:rPr sz="1050" b="1" spc="75" dirty="0">
                <a:solidFill>
                  <a:srgbClr val="5B3AA8"/>
                </a:solidFill>
                <a:latin typeface="Calibri"/>
                <a:cs typeface="Calibri"/>
              </a:rPr>
              <a:t>TRACK</a:t>
            </a:r>
            <a:r>
              <a:rPr sz="1050" b="1" spc="1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5B3AA8"/>
                </a:solidFill>
                <a:latin typeface="Calibri"/>
                <a:cs typeface="Calibri"/>
              </a:rPr>
              <a:t>8</a:t>
            </a:r>
            <a:r>
              <a:rPr sz="1050" b="1" spc="20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dirty="0">
                <a:solidFill>
                  <a:srgbClr val="5B3AA8"/>
                </a:solidFill>
                <a:latin typeface="Calibri"/>
                <a:cs typeface="Calibri"/>
              </a:rPr>
              <a:t>–</a:t>
            </a:r>
            <a:r>
              <a:rPr sz="1050" b="1" spc="20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spc="80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r>
              <a:rPr sz="105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spc="75" dirty="0">
                <a:solidFill>
                  <a:srgbClr val="5B3AA8"/>
                </a:solidFill>
                <a:latin typeface="Calibri"/>
                <a:cs typeface="Calibri"/>
              </a:rPr>
              <a:t>Chemistry </a:t>
            </a:r>
            <a:r>
              <a:rPr sz="1050" b="1" spc="65" dirty="0">
                <a:solidFill>
                  <a:srgbClr val="5B3AA8"/>
                </a:solidFill>
                <a:latin typeface="Calibri"/>
                <a:cs typeface="Calibri"/>
              </a:rPr>
              <a:t>and</a:t>
            </a:r>
            <a:r>
              <a:rPr sz="105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b="1" spc="70" dirty="0">
                <a:solidFill>
                  <a:srgbClr val="5B3AA8"/>
                </a:solidFill>
                <a:latin typeface="Calibri"/>
                <a:cs typeface="Calibri"/>
              </a:rPr>
              <a:t>sensing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6397561" y="1862137"/>
            <a:ext cx="2295525" cy="540385"/>
            <a:chOff x="6397561" y="1862137"/>
            <a:chExt cx="2295525" cy="540385"/>
          </a:xfrm>
        </p:grpSpPr>
        <p:sp>
          <p:nvSpPr>
            <p:cNvPr id="41" name="object 41"/>
            <p:cNvSpPr/>
            <p:nvPr/>
          </p:nvSpPr>
          <p:spPr>
            <a:xfrm>
              <a:off x="6402323" y="18669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5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402323" y="18669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5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5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02323" y="1866900"/>
            <a:ext cx="2286000" cy="53086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950"/>
              </a:spcBef>
            </a:pPr>
            <a:r>
              <a:rPr sz="1200" b="1" spc="60" dirty="0">
                <a:solidFill>
                  <a:srgbClr val="5B3AA8"/>
                </a:solidFill>
                <a:latin typeface="Calibri"/>
                <a:cs typeface="Calibri"/>
              </a:rPr>
              <a:t>TEAM</a:t>
            </a:r>
            <a:r>
              <a:rPr sz="1200" b="1" spc="25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200" b="1" spc="45" dirty="0">
                <a:solidFill>
                  <a:srgbClr val="4B25A9"/>
                </a:solidFill>
                <a:latin typeface="Calibri"/>
                <a:cs typeface="Calibri"/>
              </a:rPr>
              <a:t>NAME</a:t>
            </a:r>
            <a:endParaRPr sz="1200">
              <a:latin typeface="Calibri"/>
              <a:cs typeface="Calibri"/>
            </a:endParaRPr>
          </a:p>
          <a:p>
            <a:pPr marL="80010">
              <a:lnSpc>
                <a:spcPct val="100000"/>
              </a:lnSpc>
            </a:pPr>
            <a:r>
              <a:rPr sz="1200" b="1" spc="-10" dirty="0">
                <a:solidFill>
                  <a:srgbClr val="4B25A9"/>
                </a:solidFill>
                <a:latin typeface="Calibri"/>
                <a:cs typeface="Calibri"/>
              </a:rPr>
              <a:t>Anonymous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020121" y="2465641"/>
            <a:ext cx="2295525" cy="540385"/>
            <a:chOff x="4020121" y="2465641"/>
            <a:chExt cx="2295525" cy="540385"/>
          </a:xfrm>
        </p:grpSpPr>
        <p:sp>
          <p:nvSpPr>
            <p:cNvPr id="45" name="object 45"/>
            <p:cNvSpPr/>
            <p:nvPr/>
          </p:nvSpPr>
          <p:spPr>
            <a:xfrm>
              <a:off x="4024884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6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24884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6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6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024884" y="2470403"/>
            <a:ext cx="2286000" cy="431528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79375">
              <a:lnSpc>
                <a:spcPts val="1075"/>
              </a:lnSpc>
              <a:spcBef>
                <a:spcPts val="965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TEAM</a:t>
            </a:r>
            <a:r>
              <a:rPr sz="900" b="1" spc="17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LEADER</a:t>
            </a:r>
            <a:endParaRPr sz="900" dirty="0">
              <a:latin typeface="Calibri"/>
              <a:cs typeface="Calibri"/>
            </a:endParaRPr>
          </a:p>
          <a:p>
            <a:pPr marL="79375">
              <a:lnSpc>
                <a:spcPts val="1315"/>
              </a:lnSpc>
            </a:pPr>
            <a:r>
              <a:rPr sz="1100" b="1" spc="80" dirty="0">
                <a:solidFill>
                  <a:srgbClr val="5B3AA8"/>
                </a:solidFill>
                <a:latin typeface="Calibri"/>
                <a:cs typeface="Calibri"/>
              </a:rPr>
              <a:t>Nandita</a:t>
            </a:r>
            <a:r>
              <a:rPr sz="110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lang="en-US" sz="1100" b="1" spc="70" dirty="0">
                <a:solidFill>
                  <a:srgbClr val="5B3AA8"/>
                </a:solidFill>
                <a:latin typeface="Calibri"/>
                <a:cs typeface="Calibri"/>
              </a:rPr>
              <a:t>S</a:t>
            </a:r>
            <a:r>
              <a:rPr sz="1100" b="1" spc="70" dirty="0">
                <a:solidFill>
                  <a:srgbClr val="5B3AA8"/>
                </a:solidFill>
                <a:latin typeface="Calibri"/>
                <a:cs typeface="Calibri"/>
              </a:rPr>
              <a:t>alunke</a:t>
            </a:r>
            <a:endParaRPr sz="1100" dirty="0">
              <a:latin typeface="Calibri"/>
              <a:cs typeface="Calibri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97561" y="2465641"/>
            <a:ext cx="2295525" cy="540385"/>
            <a:chOff x="6397561" y="2465641"/>
            <a:chExt cx="2295525" cy="540385"/>
          </a:xfrm>
        </p:grpSpPr>
        <p:sp>
          <p:nvSpPr>
            <p:cNvPr id="49" name="object 49"/>
            <p:cNvSpPr/>
            <p:nvPr/>
          </p:nvSpPr>
          <p:spPr>
            <a:xfrm>
              <a:off x="6402323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1"/>
                  </a:lnTo>
                  <a:lnTo>
                    <a:pt x="2231135" y="530351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3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402323" y="247040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5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3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5" y="530351"/>
                  </a:lnTo>
                  <a:lnTo>
                    <a:pt x="54863" y="530351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402323" y="2470403"/>
            <a:ext cx="2286000" cy="425373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80010">
              <a:lnSpc>
                <a:spcPts val="1075"/>
              </a:lnSpc>
              <a:spcBef>
                <a:spcPts val="965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EMAIL</a:t>
            </a:r>
            <a:r>
              <a:rPr sz="900" b="1" spc="18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5B3AA8"/>
                </a:solidFill>
                <a:latin typeface="Calibri"/>
                <a:cs typeface="Calibri"/>
              </a:rPr>
              <a:t>/</a:t>
            </a:r>
            <a:r>
              <a:rPr sz="900" b="1" spc="20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0" dirty="0">
                <a:solidFill>
                  <a:srgbClr val="5B3AA8"/>
                </a:solidFill>
                <a:latin typeface="Calibri"/>
                <a:cs typeface="Calibri"/>
              </a:rPr>
              <a:t>CONTACT</a:t>
            </a:r>
            <a:endParaRPr sz="900" dirty="0">
              <a:latin typeface="Calibri"/>
              <a:cs typeface="Calibri"/>
            </a:endParaRPr>
          </a:p>
          <a:p>
            <a:pPr marL="80010">
              <a:lnSpc>
                <a:spcPts val="1255"/>
              </a:lnSpc>
            </a:pPr>
            <a:r>
              <a:rPr sz="1050" spc="90" dirty="0">
                <a:solidFill>
                  <a:srgbClr val="5B3AA8"/>
                </a:solidFill>
                <a:latin typeface="Calibri"/>
                <a:cs typeface="Calibri"/>
              </a:rPr>
              <a:t>nanditasalunke</a:t>
            </a:r>
            <a:r>
              <a:rPr sz="1050" spc="55" dirty="0">
                <a:solidFill>
                  <a:srgbClr val="5B3AA8"/>
                </a:solidFill>
                <a:latin typeface="Calibri"/>
                <a:cs typeface="Calibri"/>
              </a:rPr>
              <a:t>00@</a:t>
            </a:r>
            <a:r>
              <a:rPr sz="1050" spc="-11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050" spc="75" dirty="0">
                <a:solidFill>
                  <a:srgbClr val="5B3AA8"/>
                </a:solidFill>
                <a:latin typeface="Calibri"/>
                <a:cs typeface="Calibri"/>
              </a:rPr>
              <a:t>gmail.</a:t>
            </a:r>
            <a:r>
              <a:rPr sz="1050" spc="40" dirty="0">
                <a:solidFill>
                  <a:srgbClr val="5B3AA8"/>
                </a:solidFill>
                <a:latin typeface="Calibri"/>
                <a:cs typeface="Calibri"/>
              </a:rPr>
              <a:t>com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020121" y="3069145"/>
            <a:ext cx="4672965" cy="786765"/>
            <a:chOff x="4020121" y="3069145"/>
            <a:chExt cx="4672965" cy="786765"/>
          </a:xfrm>
        </p:grpSpPr>
        <p:sp>
          <p:nvSpPr>
            <p:cNvPr id="53" name="object 53"/>
            <p:cNvSpPr/>
            <p:nvPr/>
          </p:nvSpPr>
          <p:spPr>
            <a:xfrm>
              <a:off x="4024884" y="3073907"/>
              <a:ext cx="4663440" cy="777240"/>
            </a:xfrm>
            <a:custGeom>
              <a:avLst/>
              <a:gdLst/>
              <a:ahLst/>
              <a:cxnLst/>
              <a:rect l="l" t="t" r="r" b="b"/>
              <a:pathLst>
                <a:path w="4663440" h="777239">
                  <a:moveTo>
                    <a:pt x="460857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722376"/>
                  </a:lnTo>
                  <a:lnTo>
                    <a:pt x="4304" y="743753"/>
                  </a:lnTo>
                  <a:lnTo>
                    <a:pt x="16049" y="761190"/>
                  </a:lnTo>
                  <a:lnTo>
                    <a:pt x="33486" y="772935"/>
                  </a:lnTo>
                  <a:lnTo>
                    <a:pt x="54863" y="777240"/>
                  </a:lnTo>
                  <a:lnTo>
                    <a:pt x="4608575" y="777240"/>
                  </a:lnTo>
                  <a:lnTo>
                    <a:pt x="4629953" y="772935"/>
                  </a:lnTo>
                  <a:lnTo>
                    <a:pt x="4647390" y="761190"/>
                  </a:lnTo>
                  <a:lnTo>
                    <a:pt x="4659135" y="743753"/>
                  </a:lnTo>
                  <a:lnTo>
                    <a:pt x="4663440" y="722376"/>
                  </a:lnTo>
                  <a:lnTo>
                    <a:pt x="4663440" y="54864"/>
                  </a:lnTo>
                  <a:lnTo>
                    <a:pt x="4659135" y="33486"/>
                  </a:lnTo>
                  <a:lnTo>
                    <a:pt x="4647390" y="16049"/>
                  </a:lnTo>
                  <a:lnTo>
                    <a:pt x="4629953" y="4304"/>
                  </a:lnTo>
                  <a:lnTo>
                    <a:pt x="4608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024884" y="3073907"/>
              <a:ext cx="4663440" cy="777240"/>
            </a:xfrm>
            <a:custGeom>
              <a:avLst/>
              <a:gdLst/>
              <a:ahLst/>
              <a:cxnLst/>
              <a:rect l="l" t="t" r="r" b="b"/>
              <a:pathLst>
                <a:path w="4663440" h="777239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4608575" y="0"/>
                  </a:lnTo>
                  <a:lnTo>
                    <a:pt x="4629953" y="4304"/>
                  </a:lnTo>
                  <a:lnTo>
                    <a:pt x="4647390" y="16049"/>
                  </a:lnTo>
                  <a:lnTo>
                    <a:pt x="4659135" y="33486"/>
                  </a:lnTo>
                  <a:lnTo>
                    <a:pt x="4663440" y="54864"/>
                  </a:lnTo>
                  <a:lnTo>
                    <a:pt x="4663440" y="722376"/>
                  </a:lnTo>
                  <a:lnTo>
                    <a:pt x="4659135" y="743753"/>
                  </a:lnTo>
                  <a:lnTo>
                    <a:pt x="4647390" y="761190"/>
                  </a:lnTo>
                  <a:lnTo>
                    <a:pt x="4629953" y="772935"/>
                  </a:lnTo>
                  <a:lnTo>
                    <a:pt x="4608575" y="777240"/>
                  </a:lnTo>
                  <a:lnTo>
                    <a:pt x="54863" y="777240"/>
                  </a:lnTo>
                  <a:lnTo>
                    <a:pt x="33486" y="772935"/>
                  </a:lnTo>
                  <a:lnTo>
                    <a:pt x="16049" y="761190"/>
                  </a:lnTo>
                  <a:lnTo>
                    <a:pt x="4304" y="743753"/>
                  </a:lnTo>
                  <a:lnTo>
                    <a:pt x="0" y="722376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024884" y="3073907"/>
            <a:ext cx="4663440" cy="426014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79375">
              <a:lnSpc>
                <a:spcPts val="1075"/>
              </a:lnSpc>
              <a:spcBef>
                <a:spcPts val="970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TEAM</a:t>
            </a:r>
            <a:r>
              <a:rPr sz="900" b="1" spc="17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MEMBERS</a:t>
            </a:r>
            <a:endParaRPr sz="900" dirty="0">
              <a:latin typeface="Calibri"/>
              <a:cs typeface="Calibri"/>
            </a:endParaRPr>
          </a:p>
          <a:p>
            <a:pPr marL="79375">
              <a:lnSpc>
                <a:spcPts val="1255"/>
              </a:lnSpc>
            </a:pPr>
            <a:r>
              <a:rPr sz="1050" b="1" spc="80" dirty="0">
                <a:solidFill>
                  <a:srgbClr val="5B3AA8"/>
                </a:solidFill>
                <a:latin typeface="Calibri"/>
                <a:cs typeface="Calibri"/>
              </a:rPr>
              <a:t>Ramling</a:t>
            </a:r>
            <a:r>
              <a:rPr sz="1050" b="1" spc="20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lang="en-US" sz="1050" b="1" spc="70" dirty="0">
                <a:solidFill>
                  <a:srgbClr val="5B3AA8"/>
                </a:solidFill>
                <a:latin typeface="Calibri"/>
                <a:cs typeface="Calibri"/>
              </a:rPr>
              <a:t>B</a:t>
            </a:r>
            <a:r>
              <a:rPr sz="1050" b="1" spc="70" dirty="0">
                <a:solidFill>
                  <a:srgbClr val="5B3AA8"/>
                </a:solidFill>
                <a:latin typeface="Calibri"/>
                <a:cs typeface="Calibri"/>
              </a:rPr>
              <a:t>elkeri</a:t>
            </a:r>
            <a:endParaRPr sz="1050" dirty="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020121" y="3919537"/>
            <a:ext cx="2295525" cy="540385"/>
            <a:chOff x="4020121" y="3919537"/>
            <a:chExt cx="2295525" cy="540385"/>
          </a:xfrm>
        </p:grpSpPr>
        <p:sp>
          <p:nvSpPr>
            <p:cNvPr id="57" name="object 57"/>
            <p:cNvSpPr/>
            <p:nvPr/>
          </p:nvSpPr>
          <p:spPr>
            <a:xfrm>
              <a:off x="4024884" y="39243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3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4"/>
                  </a:lnTo>
                  <a:lnTo>
                    <a:pt x="0" y="475488"/>
                  </a:lnTo>
                  <a:lnTo>
                    <a:pt x="4304" y="496844"/>
                  </a:lnTo>
                  <a:lnTo>
                    <a:pt x="16049" y="514283"/>
                  </a:lnTo>
                  <a:lnTo>
                    <a:pt x="33486" y="526040"/>
                  </a:lnTo>
                  <a:lnTo>
                    <a:pt x="54863" y="530352"/>
                  </a:lnTo>
                  <a:lnTo>
                    <a:pt x="2231136" y="530352"/>
                  </a:lnTo>
                  <a:lnTo>
                    <a:pt x="2252513" y="526040"/>
                  </a:lnTo>
                  <a:lnTo>
                    <a:pt x="2269950" y="514283"/>
                  </a:lnTo>
                  <a:lnTo>
                    <a:pt x="2281695" y="496844"/>
                  </a:lnTo>
                  <a:lnTo>
                    <a:pt x="2286000" y="475488"/>
                  </a:lnTo>
                  <a:lnTo>
                    <a:pt x="2286000" y="54864"/>
                  </a:lnTo>
                  <a:lnTo>
                    <a:pt x="2281695" y="33507"/>
                  </a:lnTo>
                  <a:lnTo>
                    <a:pt x="2269950" y="16068"/>
                  </a:lnTo>
                  <a:lnTo>
                    <a:pt x="2252513" y="4311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24884" y="3924300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4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3" y="0"/>
                  </a:lnTo>
                  <a:lnTo>
                    <a:pt x="2231136" y="0"/>
                  </a:lnTo>
                  <a:lnTo>
                    <a:pt x="2252513" y="4311"/>
                  </a:lnTo>
                  <a:lnTo>
                    <a:pt x="2269950" y="16068"/>
                  </a:lnTo>
                  <a:lnTo>
                    <a:pt x="2281695" y="33507"/>
                  </a:lnTo>
                  <a:lnTo>
                    <a:pt x="2286000" y="54864"/>
                  </a:lnTo>
                  <a:lnTo>
                    <a:pt x="2286000" y="475488"/>
                  </a:lnTo>
                  <a:lnTo>
                    <a:pt x="2281695" y="496844"/>
                  </a:lnTo>
                  <a:lnTo>
                    <a:pt x="2269950" y="514283"/>
                  </a:lnTo>
                  <a:lnTo>
                    <a:pt x="2252513" y="526040"/>
                  </a:lnTo>
                  <a:lnTo>
                    <a:pt x="2231136" y="530352"/>
                  </a:lnTo>
                  <a:lnTo>
                    <a:pt x="54863" y="530352"/>
                  </a:lnTo>
                  <a:lnTo>
                    <a:pt x="33486" y="526040"/>
                  </a:lnTo>
                  <a:lnTo>
                    <a:pt x="16049" y="514283"/>
                  </a:lnTo>
                  <a:lnTo>
                    <a:pt x="4304" y="496844"/>
                  </a:lnTo>
                  <a:lnTo>
                    <a:pt x="0" y="475488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024884" y="3924300"/>
            <a:ext cx="2286000" cy="53086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79375" marR="679450">
              <a:lnSpc>
                <a:spcPts val="1250"/>
              </a:lnSpc>
              <a:spcBef>
                <a:spcPts val="1015"/>
              </a:spcBef>
            </a:pPr>
            <a:r>
              <a:rPr sz="1050" b="1" i="1" spc="-10" dirty="0">
                <a:solidFill>
                  <a:srgbClr val="6E7399"/>
                </a:solidFill>
                <a:latin typeface="Calibri"/>
                <a:cs typeface="Calibri"/>
              </a:rPr>
              <a:t>Visvesvaraya</a:t>
            </a:r>
            <a:r>
              <a:rPr sz="1050" b="1" i="1" spc="5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6E7399"/>
                </a:solidFill>
                <a:latin typeface="Calibri"/>
                <a:cs typeface="Calibri"/>
              </a:rPr>
              <a:t>Technological </a:t>
            </a:r>
            <a:r>
              <a:rPr sz="1050" b="1" i="1" dirty="0">
                <a:solidFill>
                  <a:srgbClr val="6E7399"/>
                </a:solidFill>
                <a:latin typeface="Calibri"/>
                <a:cs typeface="Calibri"/>
              </a:rPr>
              <a:t>university</a:t>
            </a:r>
            <a:r>
              <a:rPr sz="1050" b="1" i="1" spc="-3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050" b="1" i="1" dirty="0">
                <a:solidFill>
                  <a:srgbClr val="6E7399"/>
                </a:solidFill>
                <a:latin typeface="Calibri"/>
                <a:cs typeface="Calibri"/>
              </a:rPr>
              <a:t>,</a:t>
            </a:r>
            <a:r>
              <a:rPr sz="1050" b="1" i="1" spc="-25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050" b="1" i="1" spc="-10" dirty="0">
                <a:solidFill>
                  <a:srgbClr val="6E7399"/>
                </a:solidFill>
                <a:latin typeface="Calibri"/>
                <a:cs typeface="Calibri"/>
              </a:rPr>
              <a:t>Belagavi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470903" y="3907535"/>
            <a:ext cx="2295525" cy="539750"/>
            <a:chOff x="6470903" y="3907535"/>
            <a:chExt cx="2295525" cy="539750"/>
          </a:xfrm>
        </p:grpSpPr>
        <p:sp>
          <p:nvSpPr>
            <p:cNvPr id="61" name="object 61"/>
            <p:cNvSpPr/>
            <p:nvPr/>
          </p:nvSpPr>
          <p:spPr>
            <a:xfrm>
              <a:off x="6475475" y="39121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4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3"/>
                  </a:lnTo>
                  <a:lnTo>
                    <a:pt x="0" y="475487"/>
                  </a:lnTo>
                  <a:lnTo>
                    <a:pt x="4304" y="496844"/>
                  </a:lnTo>
                  <a:lnTo>
                    <a:pt x="16049" y="514283"/>
                  </a:lnTo>
                  <a:lnTo>
                    <a:pt x="33486" y="526040"/>
                  </a:lnTo>
                  <a:lnTo>
                    <a:pt x="54864" y="530351"/>
                  </a:lnTo>
                  <a:lnTo>
                    <a:pt x="2231135" y="530351"/>
                  </a:lnTo>
                  <a:lnTo>
                    <a:pt x="2252513" y="526040"/>
                  </a:lnTo>
                  <a:lnTo>
                    <a:pt x="2269950" y="514283"/>
                  </a:lnTo>
                  <a:lnTo>
                    <a:pt x="2281695" y="496844"/>
                  </a:lnTo>
                  <a:lnTo>
                    <a:pt x="2286000" y="475487"/>
                  </a:lnTo>
                  <a:lnTo>
                    <a:pt x="2286000" y="54863"/>
                  </a:lnTo>
                  <a:lnTo>
                    <a:pt x="2281695" y="33507"/>
                  </a:lnTo>
                  <a:lnTo>
                    <a:pt x="2269950" y="16068"/>
                  </a:lnTo>
                  <a:lnTo>
                    <a:pt x="2252513" y="4311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475475" y="3912107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3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4" y="0"/>
                  </a:lnTo>
                  <a:lnTo>
                    <a:pt x="2231135" y="0"/>
                  </a:lnTo>
                  <a:lnTo>
                    <a:pt x="2252513" y="4311"/>
                  </a:lnTo>
                  <a:lnTo>
                    <a:pt x="2269950" y="16068"/>
                  </a:lnTo>
                  <a:lnTo>
                    <a:pt x="2281695" y="33507"/>
                  </a:lnTo>
                  <a:lnTo>
                    <a:pt x="2286000" y="54863"/>
                  </a:lnTo>
                  <a:lnTo>
                    <a:pt x="2286000" y="475487"/>
                  </a:lnTo>
                  <a:lnTo>
                    <a:pt x="2281695" y="496844"/>
                  </a:lnTo>
                  <a:lnTo>
                    <a:pt x="2269950" y="514283"/>
                  </a:lnTo>
                  <a:lnTo>
                    <a:pt x="2252513" y="526040"/>
                  </a:lnTo>
                  <a:lnTo>
                    <a:pt x="2231135" y="530351"/>
                  </a:lnTo>
                  <a:lnTo>
                    <a:pt x="54864" y="530351"/>
                  </a:lnTo>
                  <a:lnTo>
                    <a:pt x="33486" y="526040"/>
                  </a:lnTo>
                  <a:lnTo>
                    <a:pt x="16049" y="514283"/>
                  </a:lnTo>
                  <a:lnTo>
                    <a:pt x="4304" y="496844"/>
                  </a:lnTo>
                  <a:lnTo>
                    <a:pt x="0" y="475487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6475476" y="3912108"/>
            <a:ext cx="2286000" cy="5308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80010">
              <a:lnSpc>
                <a:spcPts val="1080"/>
              </a:lnSpc>
              <a:spcBef>
                <a:spcPts val="960"/>
              </a:spcBef>
            </a:pPr>
            <a:r>
              <a:rPr sz="900" b="1" spc="70" dirty="0">
                <a:solidFill>
                  <a:srgbClr val="5B3AA8"/>
                </a:solidFill>
                <a:latin typeface="Calibri"/>
                <a:cs typeface="Calibri"/>
              </a:rPr>
              <a:t>COUNTRY</a:t>
            </a:r>
            <a:endParaRPr sz="900">
              <a:latin typeface="Calibri"/>
              <a:cs typeface="Calibri"/>
            </a:endParaRPr>
          </a:p>
          <a:p>
            <a:pPr marL="80010">
              <a:lnSpc>
                <a:spcPts val="1200"/>
              </a:lnSpc>
            </a:pPr>
            <a:r>
              <a:rPr sz="1000" b="1" spc="65" dirty="0">
                <a:solidFill>
                  <a:srgbClr val="5B3AA8"/>
                </a:solidFill>
                <a:latin typeface="Calibri"/>
                <a:cs typeface="Calibri"/>
              </a:rPr>
              <a:t>India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80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405" dirty="0"/>
              <a:t> </a:t>
            </a:r>
            <a:r>
              <a:rPr dirty="0"/>
              <a:t>O C</a:t>
            </a:r>
            <a:r>
              <a:rPr spc="10" dirty="0"/>
              <a:t> </a:t>
            </a:r>
            <a:r>
              <a:rPr dirty="0"/>
              <a:t>T</a:t>
            </a:r>
            <a:r>
              <a:rPr spc="390" dirty="0"/>
              <a:t> </a:t>
            </a:r>
            <a:r>
              <a:rPr dirty="0"/>
              <a:t>2 0</a:t>
            </a:r>
            <a:r>
              <a:rPr spc="-5" dirty="0"/>
              <a:t> </a:t>
            </a:r>
            <a:r>
              <a:rPr dirty="0"/>
              <a:t>2 </a:t>
            </a:r>
            <a:r>
              <a:rPr spc="-50" dirty="0"/>
              <a:t>6</a:t>
            </a:r>
            <a:r>
              <a:rPr spc="5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0" y="1377695"/>
            <a:ext cx="0" cy="58419"/>
          </a:xfrm>
          <a:custGeom>
            <a:avLst/>
            <a:gdLst/>
            <a:ahLst/>
            <a:cxnLst/>
            <a:rect l="l" t="t" r="r" b="b"/>
            <a:pathLst>
              <a:path h="58419">
                <a:moveTo>
                  <a:pt x="0" y="57912"/>
                </a:moveTo>
                <a:lnTo>
                  <a:pt x="0" y="0"/>
                </a:lnTo>
              </a:path>
            </a:pathLst>
          </a:custGeom>
          <a:ln w="12192">
            <a:solidFill>
              <a:srgbClr val="7B92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18" name="object 18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54151" y="1597151"/>
            <a:ext cx="4974590" cy="2524125"/>
            <a:chOff x="454151" y="1597151"/>
            <a:chExt cx="4974590" cy="2524125"/>
          </a:xfrm>
        </p:grpSpPr>
        <p:sp>
          <p:nvSpPr>
            <p:cNvPr id="25" name="object 25"/>
            <p:cNvSpPr/>
            <p:nvPr/>
          </p:nvSpPr>
          <p:spPr>
            <a:xfrm>
              <a:off x="458723" y="1601723"/>
              <a:ext cx="4965700" cy="2514600"/>
            </a:xfrm>
            <a:custGeom>
              <a:avLst/>
              <a:gdLst/>
              <a:ahLst/>
              <a:cxnLst/>
              <a:rect l="l" t="t" r="r" b="b"/>
              <a:pathLst>
                <a:path w="4965700" h="2514600">
                  <a:moveTo>
                    <a:pt x="4902327" y="0"/>
                  </a:moveTo>
                  <a:lnTo>
                    <a:pt x="62865" y="0"/>
                  </a:lnTo>
                  <a:lnTo>
                    <a:pt x="38394" y="4947"/>
                  </a:lnTo>
                  <a:lnTo>
                    <a:pt x="18411" y="18430"/>
                  </a:lnTo>
                  <a:lnTo>
                    <a:pt x="4939" y="38415"/>
                  </a:lnTo>
                  <a:lnTo>
                    <a:pt x="0" y="62864"/>
                  </a:lnTo>
                  <a:lnTo>
                    <a:pt x="0" y="2451735"/>
                  </a:lnTo>
                  <a:lnTo>
                    <a:pt x="4939" y="2476205"/>
                  </a:lnTo>
                  <a:lnTo>
                    <a:pt x="18411" y="2496188"/>
                  </a:lnTo>
                  <a:lnTo>
                    <a:pt x="38394" y="2509660"/>
                  </a:lnTo>
                  <a:lnTo>
                    <a:pt x="62865" y="2514600"/>
                  </a:lnTo>
                  <a:lnTo>
                    <a:pt x="4902327" y="2514600"/>
                  </a:lnTo>
                  <a:lnTo>
                    <a:pt x="4926776" y="2509660"/>
                  </a:lnTo>
                  <a:lnTo>
                    <a:pt x="4946761" y="2496188"/>
                  </a:lnTo>
                  <a:lnTo>
                    <a:pt x="4960244" y="2476205"/>
                  </a:lnTo>
                  <a:lnTo>
                    <a:pt x="4965192" y="2451735"/>
                  </a:lnTo>
                  <a:lnTo>
                    <a:pt x="4965192" y="62864"/>
                  </a:lnTo>
                  <a:lnTo>
                    <a:pt x="4960244" y="38415"/>
                  </a:lnTo>
                  <a:lnTo>
                    <a:pt x="4946761" y="18430"/>
                  </a:lnTo>
                  <a:lnTo>
                    <a:pt x="4926776" y="4947"/>
                  </a:lnTo>
                  <a:lnTo>
                    <a:pt x="49023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8723" y="1601723"/>
              <a:ext cx="4965700" cy="2514600"/>
            </a:xfrm>
            <a:custGeom>
              <a:avLst/>
              <a:gdLst/>
              <a:ahLst/>
              <a:cxnLst/>
              <a:rect l="l" t="t" r="r" b="b"/>
              <a:pathLst>
                <a:path w="4965700" h="2514600">
                  <a:moveTo>
                    <a:pt x="0" y="62864"/>
                  </a:moveTo>
                  <a:lnTo>
                    <a:pt x="4939" y="38415"/>
                  </a:lnTo>
                  <a:lnTo>
                    <a:pt x="18411" y="18430"/>
                  </a:lnTo>
                  <a:lnTo>
                    <a:pt x="38394" y="4947"/>
                  </a:lnTo>
                  <a:lnTo>
                    <a:pt x="62865" y="0"/>
                  </a:lnTo>
                  <a:lnTo>
                    <a:pt x="4902327" y="0"/>
                  </a:lnTo>
                  <a:lnTo>
                    <a:pt x="4926776" y="4947"/>
                  </a:lnTo>
                  <a:lnTo>
                    <a:pt x="4946761" y="18430"/>
                  </a:lnTo>
                  <a:lnTo>
                    <a:pt x="4960244" y="38415"/>
                  </a:lnTo>
                  <a:lnTo>
                    <a:pt x="4965192" y="62864"/>
                  </a:lnTo>
                  <a:lnTo>
                    <a:pt x="4965192" y="2451735"/>
                  </a:lnTo>
                  <a:lnTo>
                    <a:pt x="4960244" y="2476205"/>
                  </a:lnTo>
                  <a:lnTo>
                    <a:pt x="4946761" y="2496188"/>
                  </a:lnTo>
                  <a:lnTo>
                    <a:pt x="4926776" y="2509660"/>
                  </a:lnTo>
                  <a:lnTo>
                    <a:pt x="4902327" y="2514600"/>
                  </a:lnTo>
                  <a:lnTo>
                    <a:pt x="62865" y="2514600"/>
                  </a:lnTo>
                  <a:lnTo>
                    <a:pt x="38394" y="2509660"/>
                  </a:lnTo>
                  <a:lnTo>
                    <a:pt x="18411" y="2496188"/>
                  </a:lnTo>
                  <a:lnTo>
                    <a:pt x="4939" y="2476205"/>
                  </a:lnTo>
                  <a:lnTo>
                    <a:pt x="0" y="2451735"/>
                  </a:lnTo>
                  <a:lnTo>
                    <a:pt x="0" y="62864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44804" y="918794"/>
            <a:ext cx="4432935" cy="1471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Problem</a:t>
            </a:r>
            <a:r>
              <a:rPr sz="2600" b="1" spc="-10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Statement</a:t>
            </a:r>
            <a:endParaRPr sz="2600" dirty="0">
              <a:latin typeface="Georgia"/>
              <a:cs typeface="Georgia"/>
            </a:endParaRPr>
          </a:p>
          <a:p>
            <a:pPr marL="121920" marR="5080">
              <a:lnSpc>
                <a:spcPct val="100000"/>
              </a:lnSpc>
              <a:spcBef>
                <a:spcPts val="2505"/>
              </a:spcBef>
            </a:pP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Why</a:t>
            </a:r>
            <a:r>
              <a:rPr sz="2400" b="1" i="1" spc="-8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Battery</a:t>
            </a:r>
            <a:r>
              <a:rPr sz="2400" b="1" i="1" spc="-7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Material</a:t>
            </a:r>
            <a:r>
              <a:rPr sz="2400" b="1" i="1" spc="-6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251653"/>
                </a:solidFill>
                <a:latin typeface="Calibri"/>
                <a:cs typeface="Calibri"/>
              </a:rPr>
              <a:t>Discovery</a:t>
            </a:r>
            <a:r>
              <a:rPr sz="2400" b="1" i="1" spc="-7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2400" b="1" i="1" spc="-25" dirty="0">
                <a:solidFill>
                  <a:srgbClr val="251653"/>
                </a:solidFill>
                <a:latin typeface="Calibri"/>
                <a:cs typeface="Calibri"/>
              </a:rPr>
              <a:t>is </a:t>
            </a:r>
            <a:r>
              <a:rPr sz="2400" b="1" i="1" spc="-20" dirty="0">
                <a:solidFill>
                  <a:srgbClr val="251653"/>
                </a:solidFill>
                <a:latin typeface="Calibri"/>
                <a:cs typeface="Calibri"/>
              </a:rPr>
              <a:t>slow</a:t>
            </a:r>
            <a:r>
              <a:rPr lang="en-US" sz="2400" b="1" i="1" spc="-20" dirty="0">
                <a:solidFill>
                  <a:srgbClr val="251653"/>
                </a:solidFill>
                <a:latin typeface="Calibri"/>
                <a:cs typeface="Calibri"/>
              </a:rPr>
              <a:t>?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4532" y="2617977"/>
            <a:ext cx="462851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Battery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performance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depends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on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complex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atomic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interactions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electrode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solid-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electrolyte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interfaces.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These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interactions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can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involve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strong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electron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correlation,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which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difficult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model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accurately.</a:t>
            </a:r>
            <a:endParaRPr sz="1200">
              <a:latin typeface="Calibri"/>
              <a:cs typeface="Calibri"/>
            </a:endParaRPr>
          </a:p>
          <a:p>
            <a:pPr marL="12700" marR="76200" algn="just">
              <a:lnSpc>
                <a:spcPct val="100000"/>
              </a:lnSpc>
              <a:spcBef>
                <a:spcPts val="1440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methods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are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useful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screening,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but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some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approximations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may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miss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important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electronic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behaviour.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Testing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every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candidate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physically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is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costly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time-consuming</a:t>
            </a:r>
            <a:r>
              <a:rPr sz="1000" spc="-10" dirty="0">
                <a:solidFill>
                  <a:srgbClr val="2D1B5B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08320" y="822325"/>
            <a:ext cx="3350260" cy="3292474"/>
            <a:chOff x="5608320" y="822959"/>
            <a:chExt cx="3350260" cy="3291840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9560" y="822959"/>
              <a:ext cx="777240" cy="77723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8320" y="1621535"/>
              <a:ext cx="3349752" cy="249326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47281" y="864235"/>
            <a:ext cx="8340090" cy="3768090"/>
            <a:chOff x="347281" y="822959"/>
            <a:chExt cx="8340090" cy="376809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09560" y="822959"/>
              <a:ext cx="777240" cy="7772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2043" y="1565147"/>
              <a:ext cx="8229600" cy="3020695"/>
            </a:xfrm>
            <a:custGeom>
              <a:avLst/>
              <a:gdLst/>
              <a:ahLst/>
              <a:cxnLst/>
              <a:rect l="l" t="t" r="r" b="b"/>
              <a:pathLst>
                <a:path w="8229600" h="3020695">
                  <a:moveTo>
                    <a:pt x="8154034" y="0"/>
                  </a:moveTo>
                  <a:lnTo>
                    <a:pt x="75514" y="0"/>
                  </a:lnTo>
                  <a:lnTo>
                    <a:pt x="46120" y="5931"/>
                  </a:lnTo>
                  <a:lnTo>
                    <a:pt x="22117" y="22113"/>
                  </a:lnTo>
                  <a:lnTo>
                    <a:pt x="5934" y="46130"/>
                  </a:lnTo>
                  <a:lnTo>
                    <a:pt x="0" y="75564"/>
                  </a:lnTo>
                  <a:lnTo>
                    <a:pt x="0" y="2945053"/>
                  </a:lnTo>
                  <a:lnTo>
                    <a:pt x="5934" y="2974447"/>
                  </a:lnTo>
                  <a:lnTo>
                    <a:pt x="22117" y="2998450"/>
                  </a:lnTo>
                  <a:lnTo>
                    <a:pt x="46120" y="3014633"/>
                  </a:lnTo>
                  <a:lnTo>
                    <a:pt x="75514" y="3020568"/>
                  </a:lnTo>
                  <a:lnTo>
                    <a:pt x="8154034" y="3020568"/>
                  </a:lnTo>
                  <a:lnTo>
                    <a:pt x="8183469" y="3014633"/>
                  </a:lnTo>
                  <a:lnTo>
                    <a:pt x="8207486" y="2998450"/>
                  </a:lnTo>
                  <a:lnTo>
                    <a:pt x="8223668" y="2974447"/>
                  </a:lnTo>
                  <a:lnTo>
                    <a:pt x="8229600" y="2945053"/>
                  </a:lnTo>
                  <a:lnTo>
                    <a:pt x="8229600" y="75564"/>
                  </a:lnTo>
                  <a:lnTo>
                    <a:pt x="8223668" y="46130"/>
                  </a:lnTo>
                  <a:lnTo>
                    <a:pt x="8207486" y="22113"/>
                  </a:lnTo>
                  <a:lnTo>
                    <a:pt x="8183469" y="5931"/>
                  </a:lnTo>
                  <a:lnTo>
                    <a:pt x="81540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2043" y="1565147"/>
              <a:ext cx="8229600" cy="3020695"/>
            </a:xfrm>
            <a:custGeom>
              <a:avLst/>
              <a:gdLst/>
              <a:ahLst/>
              <a:cxnLst/>
              <a:rect l="l" t="t" r="r" b="b"/>
              <a:pathLst>
                <a:path w="8229600" h="3020695">
                  <a:moveTo>
                    <a:pt x="0" y="75564"/>
                  </a:moveTo>
                  <a:lnTo>
                    <a:pt x="5934" y="46130"/>
                  </a:lnTo>
                  <a:lnTo>
                    <a:pt x="22117" y="22113"/>
                  </a:lnTo>
                  <a:lnTo>
                    <a:pt x="46120" y="5931"/>
                  </a:lnTo>
                  <a:lnTo>
                    <a:pt x="75514" y="0"/>
                  </a:lnTo>
                  <a:lnTo>
                    <a:pt x="8154034" y="0"/>
                  </a:lnTo>
                  <a:lnTo>
                    <a:pt x="8183469" y="5931"/>
                  </a:lnTo>
                  <a:lnTo>
                    <a:pt x="8207486" y="22113"/>
                  </a:lnTo>
                  <a:lnTo>
                    <a:pt x="8223668" y="46130"/>
                  </a:lnTo>
                  <a:lnTo>
                    <a:pt x="8229600" y="75564"/>
                  </a:lnTo>
                  <a:lnTo>
                    <a:pt x="8229600" y="2945053"/>
                  </a:lnTo>
                  <a:lnTo>
                    <a:pt x="8223668" y="2974447"/>
                  </a:lnTo>
                  <a:lnTo>
                    <a:pt x="8207486" y="2998450"/>
                  </a:lnTo>
                  <a:lnTo>
                    <a:pt x="8183469" y="3014633"/>
                  </a:lnTo>
                  <a:lnTo>
                    <a:pt x="8154034" y="3020568"/>
                  </a:lnTo>
                  <a:lnTo>
                    <a:pt x="75514" y="3020568"/>
                  </a:lnTo>
                  <a:lnTo>
                    <a:pt x="46120" y="3014633"/>
                  </a:lnTo>
                  <a:lnTo>
                    <a:pt x="22117" y="2998450"/>
                  </a:lnTo>
                  <a:lnTo>
                    <a:pt x="5934" y="2974447"/>
                  </a:lnTo>
                  <a:lnTo>
                    <a:pt x="0" y="2945053"/>
                  </a:lnTo>
                  <a:lnTo>
                    <a:pt x="0" y="75564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4804" y="918794"/>
            <a:ext cx="350837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Objectives</a:t>
            </a:r>
            <a:r>
              <a:rPr sz="2600" b="1" spc="-3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9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Novelty</a:t>
            </a:r>
            <a:endParaRPr sz="2600">
              <a:latin typeface="Georgia"/>
              <a:cs typeface="Georg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3" name="object 23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1205" y="2975863"/>
            <a:ext cx="2051050" cy="54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1B5B"/>
                </a:solidFill>
                <a:latin typeface="Calibri"/>
                <a:cs typeface="Calibri"/>
              </a:rPr>
              <a:t>OUR</a:t>
            </a:r>
            <a:r>
              <a:rPr sz="1800" b="1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D1B5B"/>
                </a:solidFill>
                <a:latin typeface="Calibri"/>
                <a:cs typeface="Calibri"/>
              </a:rPr>
              <a:t>NOVELTY</a:t>
            </a:r>
            <a:endParaRPr sz="1800" b="1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One</a:t>
            </a:r>
            <a:r>
              <a:rPr sz="16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Interactive</a:t>
            </a:r>
            <a:r>
              <a:rPr sz="16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Platform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79450" y="1685289"/>
            <a:ext cx="4856480" cy="1336040"/>
            <a:chOff x="679450" y="1685289"/>
            <a:chExt cx="4856480" cy="1336040"/>
          </a:xfrm>
        </p:grpSpPr>
        <p:sp>
          <p:nvSpPr>
            <p:cNvPr id="33" name="object 33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87623" y="1746503"/>
              <a:ext cx="2441575" cy="1268095"/>
            </a:xfrm>
            <a:custGeom>
              <a:avLst/>
              <a:gdLst/>
              <a:ahLst/>
              <a:cxnLst/>
              <a:rect l="l" t="t" r="r" b="b"/>
              <a:pathLst>
                <a:path w="2441575" h="1268095">
                  <a:moveTo>
                    <a:pt x="2230120" y="0"/>
                  </a:moveTo>
                  <a:lnTo>
                    <a:pt x="211327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7" y="1267968"/>
                  </a:lnTo>
                  <a:lnTo>
                    <a:pt x="2230120" y="1267968"/>
                  </a:lnTo>
                  <a:lnTo>
                    <a:pt x="2278575" y="1262386"/>
                  </a:lnTo>
                  <a:lnTo>
                    <a:pt x="2323056" y="1246488"/>
                  </a:lnTo>
                  <a:lnTo>
                    <a:pt x="2362294" y="1221541"/>
                  </a:lnTo>
                  <a:lnTo>
                    <a:pt x="2395021" y="1188814"/>
                  </a:lnTo>
                  <a:lnTo>
                    <a:pt x="2419968" y="1149576"/>
                  </a:lnTo>
                  <a:lnTo>
                    <a:pt x="2435866" y="1105095"/>
                  </a:lnTo>
                  <a:lnTo>
                    <a:pt x="2441448" y="1056640"/>
                  </a:lnTo>
                  <a:lnTo>
                    <a:pt x="2441448" y="211328"/>
                  </a:lnTo>
                  <a:lnTo>
                    <a:pt x="2435866" y="162872"/>
                  </a:lnTo>
                  <a:lnTo>
                    <a:pt x="2419968" y="118391"/>
                  </a:lnTo>
                  <a:lnTo>
                    <a:pt x="2395021" y="79153"/>
                  </a:lnTo>
                  <a:lnTo>
                    <a:pt x="2362294" y="46426"/>
                  </a:lnTo>
                  <a:lnTo>
                    <a:pt x="2323056" y="21479"/>
                  </a:lnTo>
                  <a:lnTo>
                    <a:pt x="2278575" y="5581"/>
                  </a:lnTo>
                  <a:lnTo>
                    <a:pt x="22301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87623" y="1746503"/>
              <a:ext cx="2441575" cy="1268095"/>
            </a:xfrm>
            <a:custGeom>
              <a:avLst/>
              <a:gdLst/>
              <a:ahLst/>
              <a:cxnLst/>
              <a:rect l="l" t="t" r="r" b="b"/>
              <a:pathLst>
                <a:path w="2441575" h="1268095">
                  <a:moveTo>
                    <a:pt x="0" y="211328"/>
                  </a:moveTo>
                  <a:lnTo>
                    <a:pt x="5581" y="162872"/>
                  </a:lnTo>
                  <a:lnTo>
                    <a:pt x="21479" y="118391"/>
                  </a:lnTo>
                  <a:lnTo>
                    <a:pt x="46426" y="79153"/>
                  </a:lnTo>
                  <a:lnTo>
                    <a:pt x="79153" y="46426"/>
                  </a:lnTo>
                  <a:lnTo>
                    <a:pt x="118391" y="21479"/>
                  </a:lnTo>
                  <a:lnTo>
                    <a:pt x="162872" y="5581"/>
                  </a:lnTo>
                  <a:lnTo>
                    <a:pt x="211327" y="0"/>
                  </a:lnTo>
                  <a:lnTo>
                    <a:pt x="2230120" y="0"/>
                  </a:lnTo>
                  <a:lnTo>
                    <a:pt x="2278575" y="5581"/>
                  </a:lnTo>
                  <a:lnTo>
                    <a:pt x="2323056" y="21479"/>
                  </a:lnTo>
                  <a:lnTo>
                    <a:pt x="2362294" y="46426"/>
                  </a:lnTo>
                  <a:lnTo>
                    <a:pt x="2395021" y="79153"/>
                  </a:lnTo>
                  <a:lnTo>
                    <a:pt x="2419968" y="118391"/>
                  </a:lnTo>
                  <a:lnTo>
                    <a:pt x="2435866" y="162872"/>
                  </a:lnTo>
                  <a:lnTo>
                    <a:pt x="2441448" y="211328"/>
                  </a:lnTo>
                  <a:lnTo>
                    <a:pt x="2441448" y="1056640"/>
                  </a:lnTo>
                  <a:lnTo>
                    <a:pt x="2435866" y="1105095"/>
                  </a:lnTo>
                  <a:lnTo>
                    <a:pt x="2419968" y="1149576"/>
                  </a:lnTo>
                  <a:lnTo>
                    <a:pt x="2395021" y="1188814"/>
                  </a:lnTo>
                  <a:lnTo>
                    <a:pt x="2362294" y="1221541"/>
                  </a:lnTo>
                  <a:lnTo>
                    <a:pt x="2323056" y="1246488"/>
                  </a:lnTo>
                  <a:lnTo>
                    <a:pt x="2278575" y="1262386"/>
                  </a:lnTo>
                  <a:lnTo>
                    <a:pt x="2230120" y="1267968"/>
                  </a:lnTo>
                  <a:lnTo>
                    <a:pt x="211327" y="1267968"/>
                  </a:lnTo>
                  <a:lnTo>
                    <a:pt x="162872" y="1262386"/>
                  </a:lnTo>
                  <a:lnTo>
                    <a:pt x="118391" y="1246488"/>
                  </a:lnTo>
                  <a:lnTo>
                    <a:pt x="79153" y="1221541"/>
                  </a:lnTo>
                  <a:lnTo>
                    <a:pt x="46426" y="1188814"/>
                  </a:lnTo>
                  <a:lnTo>
                    <a:pt x="21479" y="1149576"/>
                  </a:lnTo>
                  <a:lnTo>
                    <a:pt x="5581" y="1105095"/>
                  </a:lnTo>
                  <a:lnTo>
                    <a:pt x="0" y="1056640"/>
                  </a:lnTo>
                  <a:lnTo>
                    <a:pt x="0" y="211328"/>
                  </a:lnTo>
                  <a:close/>
                </a:path>
              </a:pathLst>
            </a:custGeom>
            <a:ln w="12192">
              <a:solidFill>
                <a:srgbClr val="5E1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557783" y="1740407"/>
            <a:ext cx="2249805" cy="1280160"/>
            <a:chOff x="557783" y="1740407"/>
            <a:chExt cx="2249805" cy="1280160"/>
          </a:xfrm>
        </p:grpSpPr>
        <p:sp>
          <p:nvSpPr>
            <p:cNvPr id="43" name="object 43"/>
            <p:cNvSpPr/>
            <p:nvPr/>
          </p:nvSpPr>
          <p:spPr>
            <a:xfrm>
              <a:off x="563879" y="1746503"/>
              <a:ext cx="2237740" cy="1268095"/>
            </a:xfrm>
            <a:custGeom>
              <a:avLst/>
              <a:gdLst/>
              <a:ahLst/>
              <a:cxnLst/>
              <a:rect l="l" t="t" r="r" b="b"/>
              <a:pathLst>
                <a:path w="2237740" h="1268095">
                  <a:moveTo>
                    <a:pt x="2025903" y="0"/>
                  </a:moveTo>
                  <a:lnTo>
                    <a:pt x="211328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8" y="1267968"/>
                  </a:lnTo>
                  <a:lnTo>
                    <a:pt x="2025903" y="1267968"/>
                  </a:lnTo>
                  <a:lnTo>
                    <a:pt x="2074359" y="1262386"/>
                  </a:lnTo>
                  <a:lnTo>
                    <a:pt x="2118840" y="1246488"/>
                  </a:lnTo>
                  <a:lnTo>
                    <a:pt x="2158078" y="1221541"/>
                  </a:lnTo>
                  <a:lnTo>
                    <a:pt x="2190805" y="1188814"/>
                  </a:lnTo>
                  <a:lnTo>
                    <a:pt x="2215752" y="1149576"/>
                  </a:lnTo>
                  <a:lnTo>
                    <a:pt x="2231650" y="1105095"/>
                  </a:lnTo>
                  <a:lnTo>
                    <a:pt x="2237232" y="1056640"/>
                  </a:lnTo>
                  <a:lnTo>
                    <a:pt x="2237232" y="211328"/>
                  </a:lnTo>
                  <a:lnTo>
                    <a:pt x="2231650" y="162872"/>
                  </a:lnTo>
                  <a:lnTo>
                    <a:pt x="2215752" y="118391"/>
                  </a:lnTo>
                  <a:lnTo>
                    <a:pt x="2190805" y="79153"/>
                  </a:lnTo>
                  <a:lnTo>
                    <a:pt x="2158078" y="46426"/>
                  </a:lnTo>
                  <a:lnTo>
                    <a:pt x="2118840" y="21479"/>
                  </a:lnTo>
                  <a:lnTo>
                    <a:pt x="2074359" y="5581"/>
                  </a:lnTo>
                  <a:lnTo>
                    <a:pt x="202590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63879" y="1746503"/>
              <a:ext cx="2237740" cy="1268095"/>
            </a:xfrm>
            <a:custGeom>
              <a:avLst/>
              <a:gdLst/>
              <a:ahLst/>
              <a:cxnLst/>
              <a:rect l="l" t="t" r="r" b="b"/>
              <a:pathLst>
                <a:path w="2237740" h="1268095">
                  <a:moveTo>
                    <a:pt x="0" y="211328"/>
                  </a:moveTo>
                  <a:lnTo>
                    <a:pt x="5581" y="162872"/>
                  </a:lnTo>
                  <a:lnTo>
                    <a:pt x="21479" y="118391"/>
                  </a:lnTo>
                  <a:lnTo>
                    <a:pt x="46426" y="79153"/>
                  </a:lnTo>
                  <a:lnTo>
                    <a:pt x="79153" y="46426"/>
                  </a:lnTo>
                  <a:lnTo>
                    <a:pt x="118391" y="21479"/>
                  </a:lnTo>
                  <a:lnTo>
                    <a:pt x="162872" y="5581"/>
                  </a:lnTo>
                  <a:lnTo>
                    <a:pt x="211328" y="0"/>
                  </a:lnTo>
                  <a:lnTo>
                    <a:pt x="2025903" y="0"/>
                  </a:lnTo>
                  <a:lnTo>
                    <a:pt x="2074359" y="5581"/>
                  </a:lnTo>
                  <a:lnTo>
                    <a:pt x="2118840" y="21479"/>
                  </a:lnTo>
                  <a:lnTo>
                    <a:pt x="2158078" y="46426"/>
                  </a:lnTo>
                  <a:lnTo>
                    <a:pt x="2190805" y="79153"/>
                  </a:lnTo>
                  <a:lnTo>
                    <a:pt x="2215752" y="118391"/>
                  </a:lnTo>
                  <a:lnTo>
                    <a:pt x="2231650" y="162872"/>
                  </a:lnTo>
                  <a:lnTo>
                    <a:pt x="2237232" y="211328"/>
                  </a:lnTo>
                  <a:lnTo>
                    <a:pt x="2237232" y="1056640"/>
                  </a:lnTo>
                  <a:lnTo>
                    <a:pt x="2231650" y="1105095"/>
                  </a:lnTo>
                  <a:lnTo>
                    <a:pt x="2215752" y="1149576"/>
                  </a:lnTo>
                  <a:lnTo>
                    <a:pt x="2190805" y="1188814"/>
                  </a:lnTo>
                  <a:lnTo>
                    <a:pt x="2158078" y="1221541"/>
                  </a:lnTo>
                  <a:lnTo>
                    <a:pt x="2118840" y="1246488"/>
                  </a:lnTo>
                  <a:lnTo>
                    <a:pt x="2074359" y="1262386"/>
                  </a:lnTo>
                  <a:lnTo>
                    <a:pt x="2025903" y="1267968"/>
                  </a:lnTo>
                  <a:lnTo>
                    <a:pt x="211328" y="1267968"/>
                  </a:lnTo>
                  <a:lnTo>
                    <a:pt x="162872" y="1262386"/>
                  </a:lnTo>
                  <a:lnTo>
                    <a:pt x="118391" y="1246488"/>
                  </a:lnTo>
                  <a:lnTo>
                    <a:pt x="79153" y="1221541"/>
                  </a:lnTo>
                  <a:lnTo>
                    <a:pt x="46426" y="1188814"/>
                  </a:lnTo>
                  <a:lnTo>
                    <a:pt x="21479" y="1149576"/>
                  </a:lnTo>
                  <a:lnTo>
                    <a:pt x="5581" y="1105095"/>
                  </a:lnTo>
                  <a:lnTo>
                    <a:pt x="0" y="1056640"/>
                  </a:lnTo>
                  <a:lnTo>
                    <a:pt x="0" y="211328"/>
                  </a:lnTo>
                  <a:close/>
                </a:path>
              </a:pathLst>
            </a:custGeom>
            <a:ln w="12192">
              <a:solidFill>
                <a:srgbClr val="5E1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88009" y="1887169"/>
            <a:ext cx="1788160" cy="97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04092B"/>
                </a:solidFill>
                <a:latin typeface="Calibri"/>
                <a:cs typeface="Calibri"/>
              </a:rPr>
              <a:t>EXPLORE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Study</a:t>
            </a:r>
            <a:r>
              <a:rPr sz="1200" spc="-5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how</a:t>
            </a:r>
            <a:r>
              <a:rPr sz="1200" spc="-4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molecular</a:t>
            </a:r>
            <a:r>
              <a:rPr sz="1200" spc="-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092B"/>
                </a:solidFill>
                <a:latin typeface="Calibri"/>
                <a:cs typeface="Calibri"/>
              </a:rPr>
              <a:t>energy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changes</a:t>
            </a:r>
            <a:r>
              <a:rPr sz="1200" spc="-2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as</a:t>
            </a:r>
            <a:r>
              <a:rPr sz="1200" spc="-2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092B"/>
                </a:solidFill>
                <a:latin typeface="Calibri"/>
                <a:cs typeface="Calibri"/>
              </a:rPr>
              <a:t>distance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between</a:t>
            </a:r>
            <a:r>
              <a:rPr sz="1200" spc="-7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atoms</a:t>
            </a:r>
            <a:r>
              <a:rPr sz="1200" spc="-45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092B"/>
                </a:solidFill>
                <a:latin typeface="Calibri"/>
                <a:cs typeface="Calibri"/>
              </a:rPr>
              <a:t>varies</a:t>
            </a:r>
            <a:r>
              <a:rPr sz="1200" spc="-20" dirty="0">
                <a:solidFill>
                  <a:srgbClr val="04092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092B"/>
                </a:solidFill>
                <a:latin typeface="Calibri"/>
                <a:cs typeface="Calibri"/>
              </a:rPr>
              <a:t>in</a:t>
            </a:r>
            <a:endParaRPr sz="1200">
              <a:latin typeface="Calibri"/>
              <a:cs typeface="Calibri"/>
            </a:endParaRPr>
          </a:p>
          <a:p>
            <a:pPr marR="244475" algn="ctr">
              <a:lnSpc>
                <a:spcPct val="100000"/>
              </a:lnSpc>
            </a:pPr>
            <a:r>
              <a:rPr sz="1200" spc="-10" dirty="0">
                <a:solidFill>
                  <a:srgbClr val="04092B"/>
                </a:solidFill>
                <a:latin typeface="Calibri"/>
                <a:cs typeface="Calibri"/>
              </a:rPr>
              <a:t>molecules.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49929" y="1796033"/>
            <a:ext cx="2115185" cy="1153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51653"/>
                </a:solidFill>
                <a:latin typeface="Calibri"/>
                <a:cs typeface="Calibri"/>
              </a:rPr>
              <a:t>COMPARE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Compare</a:t>
            </a:r>
            <a:r>
              <a:rPr sz="1200" spc="-5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51653"/>
                </a:solidFill>
                <a:latin typeface="Calibri"/>
                <a:cs typeface="Calibri"/>
              </a:rPr>
              <a:t>VQE-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calculated</a:t>
            </a:r>
            <a:r>
              <a:rPr sz="1200" spc="-3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energies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with</a:t>
            </a:r>
            <a:r>
              <a:rPr sz="1200" spc="-3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classical</a:t>
            </a:r>
            <a:r>
              <a:rPr sz="1200" spc="-3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exact-diagonalization</a:t>
            </a:r>
            <a:r>
              <a:rPr sz="1200" spc="2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results</a:t>
            </a:r>
            <a:r>
              <a:rPr sz="1200" spc="-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for</a:t>
            </a:r>
            <a:r>
              <a:rPr sz="1200" spc="2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51653"/>
                </a:solidFill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same</a:t>
            </a:r>
            <a:r>
              <a:rPr sz="1200" spc="-5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molecular</a:t>
            </a:r>
            <a:r>
              <a:rPr sz="1200" spc="-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model</a:t>
            </a:r>
            <a:r>
              <a:rPr sz="1200" spc="-20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51653"/>
                </a:solidFill>
                <a:latin typeface="Calibri"/>
                <a:cs typeface="Calibri"/>
              </a:rPr>
              <a:t>and</a:t>
            </a:r>
            <a:r>
              <a:rPr sz="1200" spc="-55" dirty="0">
                <a:solidFill>
                  <a:srgbClr val="251653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51653"/>
                </a:solidFill>
                <a:latin typeface="Calibri"/>
                <a:cs typeface="Calibri"/>
              </a:rPr>
              <a:t>bond </a:t>
            </a:r>
            <a:r>
              <a:rPr sz="1200" spc="-10" dirty="0">
                <a:solidFill>
                  <a:srgbClr val="251653"/>
                </a:solidFill>
                <a:latin typeface="Calibri"/>
                <a:cs typeface="Calibri"/>
              </a:rPr>
              <a:t>distance.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672073" y="1740153"/>
            <a:ext cx="2457450" cy="1280795"/>
            <a:chOff x="5672073" y="1740153"/>
            <a:chExt cx="2457450" cy="1280795"/>
          </a:xfrm>
        </p:grpSpPr>
        <p:sp>
          <p:nvSpPr>
            <p:cNvPr id="39" name="object 39"/>
            <p:cNvSpPr/>
            <p:nvPr/>
          </p:nvSpPr>
          <p:spPr>
            <a:xfrm>
              <a:off x="5678423" y="1746503"/>
              <a:ext cx="2444750" cy="1268095"/>
            </a:xfrm>
            <a:custGeom>
              <a:avLst/>
              <a:gdLst/>
              <a:ahLst/>
              <a:cxnLst/>
              <a:rect l="l" t="t" r="r" b="b"/>
              <a:pathLst>
                <a:path w="2444750" h="1268095">
                  <a:moveTo>
                    <a:pt x="2233168" y="0"/>
                  </a:moveTo>
                  <a:lnTo>
                    <a:pt x="211327" y="0"/>
                  </a:lnTo>
                  <a:lnTo>
                    <a:pt x="162872" y="5581"/>
                  </a:lnTo>
                  <a:lnTo>
                    <a:pt x="118391" y="21479"/>
                  </a:lnTo>
                  <a:lnTo>
                    <a:pt x="79153" y="46426"/>
                  </a:lnTo>
                  <a:lnTo>
                    <a:pt x="46426" y="79153"/>
                  </a:lnTo>
                  <a:lnTo>
                    <a:pt x="21479" y="118391"/>
                  </a:lnTo>
                  <a:lnTo>
                    <a:pt x="5581" y="162872"/>
                  </a:lnTo>
                  <a:lnTo>
                    <a:pt x="0" y="211328"/>
                  </a:lnTo>
                  <a:lnTo>
                    <a:pt x="0" y="1056640"/>
                  </a:lnTo>
                  <a:lnTo>
                    <a:pt x="5581" y="1105095"/>
                  </a:lnTo>
                  <a:lnTo>
                    <a:pt x="21479" y="1149576"/>
                  </a:lnTo>
                  <a:lnTo>
                    <a:pt x="46426" y="1188814"/>
                  </a:lnTo>
                  <a:lnTo>
                    <a:pt x="79153" y="1221541"/>
                  </a:lnTo>
                  <a:lnTo>
                    <a:pt x="118391" y="1246488"/>
                  </a:lnTo>
                  <a:lnTo>
                    <a:pt x="162872" y="1262386"/>
                  </a:lnTo>
                  <a:lnTo>
                    <a:pt x="211327" y="1267968"/>
                  </a:lnTo>
                  <a:lnTo>
                    <a:pt x="2233168" y="1267968"/>
                  </a:lnTo>
                  <a:lnTo>
                    <a:pt x="2281623" y="1262386"/>
                  </a:lnTo>
                  <a:lnTo>
                    <a:pt x="2326104" y="1246488"/>
                  </a:lnTo>
                  <a:lnTo>
                    <a:pt x="2365342" y="1221541"/>
                  </a:lnTo>
                  <a:lnTo>
                    <a:pt x="2398069" y="1188814"/>
                  </a:lnTo>
                  <a:lnTo>
                    <a:pt x="2423016" y="1149576"/>
                  </a:lnTo>
                  <a:lnTo>
                    <a:pt x="2438914" y="1105095"/>
                  </a:lnTo>
                  <a:lnTo>
                    <a:pt x="2444496" y="1056640"/>
                  </a:lnTo>
                  <a:lnTo>
                    <a:pt x="2444496" y="211328"/>
                  </a:lnTo>
                  <a:lnTo>
                    <a:pt x="2438914" y="162872"/>
                  </a:lnTo>
                  <a:lnTo>
                    <a:pt x="2423016" y="118391"/>
                  </a:lnTo>
                  <a:lnTo>
                    <a:pt x="2398069" y="79153"/>
                  </a:lnTo>
                  <a:lnTo>
                    <a:pt x="2365342" y="46426"/>
                  </a:lnTo>
                  <a:lnTo>
                    <a:pt x="2326104" y="21479"/>
                  </a:lnTo>
                  <a:lnTo>
                    <a:pt x="2281623" y="5581"/>
                  </a:lnTo>
                  <a:lnTo>
                    <a:pt x="22331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78423" y="1746503"/>
              <a:ext cx="2444750" cy="1268095"/>
            </a:xfrm>
            <a:custGeom>
              <a:avLst/>
              <a:gdLst/>
              <a:ahLst/>
              <a:cxnLst/>
              <a:rect l="l" t="t" r="r" b="b"/>
              <a:pathLst>
                <a:path w="2444750" h="1268095">
                  <a:moveTo>
                    <a:pt x="0" y="211328"/>
                  </a:moveTo>
                  <a:lnTo>
                    <a:pt x="5581" y="162872"/>
                  </a:lnTo>
                  <a:lnTo>
                    <a:pt x="21479" y="118391"/>
                  </a:lnTo>
                  <a:lnTo>
                    <a:pt x="46426" y="79153"/>
                  </a:lnTo>
                  <a:lnTo>
                    <a:pt x="79153" y="46426"/>
                  </a:lnTo>
                  <a:lnTo>
                    <a:pt x="118391" y="21479"/>
                  </a:lnTo>
                  <a:lnTo>
                    <a:pt x="162872" y="5581"/>
                  </a:lnTo>
                  <a:lnTo>
                    <a:pt x="211327" y="0"/>
                  </a:lnTo>
                  <a:lnTo>
                    <a:pt x="2233168" y="0"/>
                  </a:lnTo>
                  <a:lnTo>
                    <a:pt x="2281623" y="5581"/>
                  </a:lnTo>
                  <a:lnTo>
                    <a:pt x="2326104" y="21479"/>
                  </a:lnTo>
                  <a:lnTo>
                    <a:pt x="2365342" y="46426"/>
                  </a:lnTo>
                  <a:lnTo>
                    <a:pt x="2398069" y="79153"/>
                  </a:lnTo>
                  <a:lnTo>
                    <a:pt x="2423016" y="118391"/>
                  </a:lnTo>
                  <a:lnTo>
                    <a:pt x="2438914" y="162872"/>
                  </a:lnTo>
                  <a:lnTo>
                    <a:pt x="2444496" y="211328"/>
                  </a:lnTo>
                  <a:lnTo>
                    <a:pt x="2444496" y="1056640"/>
                  </a:lnTo>
                  <a:lnTo>
                    <a:pt x="2438914" y="1105095"/>
                  </a:lnTo>
                  <a:lnTo>
                    <a:pt x="2423016" y="1149576"/>
                  </a:lnTo>
                  <a:lnTo>
                    <a:pt x="2398069" y="1188814"/>
                  </a:lnTo>
                  <a:lnTo>
                    <a:pt x="2365342" y="1221541"/>
                  </a:lnTo>
                  <a:lnTo>
                    <a:pt x="2326104" y="1246488"/>
                  </a:lnTo>
                  <a:lnTo>
                    <a:pt x="2281623" y="1262386"/>
                  </a:lnTo>
                  <a:lnTo>
                    <a:pt x="2233168" y="1267968"/>
                  </a:lnTo>
                  <a:lnTo>
                    <a:pt x="211327" y="1267968"/>
                  </a:lnTo>
                  <a:lnTo>
                    <a:pt x="162872" y="1262386"/>
                  </a:lnTo>
                  <a:lnTo>
                    <a:pt x="118391" y="1246488"/>
                  </a:lnTo>
                  <a:lnTo>
                    <a:pt x="79153" y="1221541"/>
                  </a:lnTo>
                  <a:lnTo>
                    <a:pt x="46426" y="1188814"/>
                  </a:lnTo>
                  <a:lnTo>
                    <a:pt x="21479" y="1149576"/>
                  </a:lnTo>
                  <a:lnTo>
                    <a:pt x="5581" y="1105095"/>
                  </a:lnTo>
                  <a:lnTo>
                    <a:pt x="0" y="1056640"/>
                  </a:lnTo>
                  <a:lnTo>
                    <a:pt x="0" y="211328"/>
                  </a:lnTo>
                  <a:close/>
                </a:path>
              </a:pathLst>
            </a:custGeom>
            <a:ln w="12191">
              <a:solidFill>
                <a:srgbClr val="5E1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837935" y="1887169"/>
            <a:ext cx="2132330" cy="97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221344"/>
                </a:solidFill>
                <a:latin typeface="Calibri"/>
                <a:cs typeface="Calibri"/>
              </a:rPr>
              <a:t>VISUALISE</a:t>
            </a:r>
            <a:endParaRPr sz="1400">
              <a:latin typeface="Calibri"/>
              <a:cs typeface="Calibri"/>
            </a:endParaRPr>
          </a:p>
          <a:p>
            <a:pPr marL="12065" marR="5080" indent="-3810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Present</a:t>
            </a:r>
            <a:r>
              <a:rPr sz="1200" spc="-3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interactive</a:t>
            </a:r>
            <a:r>
              <a:rPr sz="1200" spc="-30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energy</a:t>
            </a:r>
            <a:r>
              <a:rPr sz="1200" spc="-30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curves,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calculation</a:t>
            </a:r>
            <a:r>
              <a:rPr sz="1200" spc="-1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errors,</a:t>
            </a:r>
            <a:r>
              <a:rPr sz="1200" spc="-20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molecular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properties</a:t>
            </a:r>
            <a:r>
              <a:rPr sz="1200" spc="-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through</a:t>
            </a:r>
            <a:r>
              <a:rPr sz="1200" spc="-5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an</a:t>
            </a:r>
            <a:r>
              <a:rPr sz="1200" spc="-3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easy-to-</a:t>
            </a:r>
            <a:r>
              <a:rPr sz="1200" spc="-25" dirty="0">
                <a:solidFill>
                  <a:srgbClr val="221344"/>
                </a:solidFill>
                <a:latin typeface="Calibri"/>
                <a:cs typeface="Calibri"/>
              </a:rPr>
              <a:t>use </a:t>
            </a:r>
            <a:r>
              <a:rPr sz="1200" dirty="0">
                <a:solidFill>
                  <a:srgbClr val="221344"/>
                </a:solidFill>
                <a:latin typeface="Calibri"/>
                <a:cs typeface="Calibri"/>
              </a:rPr>
              <a:t>Streamlit</a:t>
            </a:r>
            <a:r>
              <a:rPr sz="1200" spc="-55" dirty="0">
                <a:solidFill>
                  <a:srgbClr val="22134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344"/>
                </a:solidFill>
                <a:latin typeface="Calibri"/>
                <a:cs typeface="Calibri"/>
              </a:rPr>
              <a:t>dashboard</a:t>
            </a:r>
            <a:r>
              <a:rPr sz="1200" b="1" spc="-10" dirty="0">
                <a:solidFill>
                  <a:srgbClr val="221344"/>
                </a:solidFill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1205" y="3707688"/>
            <a:ext cx="163830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Transparent</a:t>
            </a:r>
            <a:r>
              <a:rPr sz="16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5945" y="3277311"/>
            <a:ext cx="5528310" cy="918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Combines</a:t>
            </a:r>
            <a:r>
              <a:rPr sz="14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4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exploration,</a:t>
            </a:r>
            <a:r>
              <a:rPr sz="1400" spc="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quantum-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classical energy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comparison,</a:t>
            </a:r>
            <a:r>
              <a:rPr sz="14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  <a:p>
            <a:pPr marL="33655">
              <a:lnSpc>
                <a:spcPct val="100000"/>
              </a:lnSpc>
              <a:spcBef>
                <a:spcPts val="70"/>
              </a:spcBef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visual</a:t>
            </a:r>
            <a:r>
              <a:rPr sz="14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analysis</a:t>
            </a:r>
            <a:r>
              <a:rPr sz="14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one</a:t>
            </a:r>
            <a:r>
              <a:rPr sz="14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dashboard.</a:t>
            </a:r>
            <a:endParaRPr sz="1400">
              <a:latin typeface="Calibri"/>
              <a:cs typeface="Calibri"/>
            </a:endParaRPr>
          </a:p>
          <a:p>
            <a:pPr marL="33655" marR="91440">
              <a:lnSpc>
                <a:spcPct val="104400"/>
              </a:lnSpc>
              <a:spcBef>
                <a:spcPts val="95"/>
              </a:spcBef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Shows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calculation</a:t>
            </a:r>
            <a:r>
              <a:rPr sz="14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errors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4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explains</a:t>
            </a:r>
            <a:r>
              <a:rPr sz="1400" spc="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limitations,</a:t>
            </a:r>
            <a:r>
              <a:rPr sz="14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helping</a:t>
            </a:r>
            <a:r>
              <a:rPr sz="14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users</a:t>
            </a:r>
            <a:r>
              <a:rPr sz="14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understand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what the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 results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mean</a:t>
            </a:r>
            <a:r>
              <a:rPr sz="14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400" spc="-7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1B5B"/>
                </a:solidFill>
                <a:latin typeface="Calibri"/>
                <a:cs typeface="Calibri"/>
              </a:rPr>
              <a:t>battery-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related</a:t>
            </a:r>
            <a:r>
              <a:rPr sz="1400" spc="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research.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338137" y="822325"/>
            <a:ext cx="8355330" cy="3856354"/>
            <a:chOff x="338137" y="822959"/>
            <a:chExt cx="8355330" cy="3856354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09559" y="822959"/>
              <a:ext cx="777240" cy="7772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3719" y="1261871"/>
              <a:ext cx="384048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2900" y="1537715"/>
              <a:ext cx="8345805" cy="3136900"/>
            </a:xfrm>
            <a:custGeom>
              <a:avLst/>
              <a:gdLst/>
              <a:ahLst/>
              <a:cxnLst/>
              <a:rect l="l" t="t" r="r" b="b"/>
              <a:pathLst>
                <a:path w="8345805" h="3136900">
                  <a:moveTo>
                    <a:pt x="8267065" y="0"/>
                  </a:moveTo>
                  <a:lnTo>
                    <a:pt x="78409" y="0"/>
                  </a:lnTo>
                  <a:lnTo>
                    <a:pt x="47888" y="6153"/>
                  </a:lnTo>
                  <a:lnTo>
                    <a:pt x="22964" y="22939"/>
                  </a:lnTo>
                  <a:lnTo>
                    <a:pt x="6161" y="47845"/>
                  </a:lnTo>
                  <a:lnTo>
                    <a:pt x="0" y="78359"/>
                  </a:lnTo>
                  <a:lnTo>
                    <a:pt x="0" y="3057982"/>
                  </a:lnTo>
                  <a:lnTo>
                    <a:pt x="6161" y="3088503"/>
                  </a:lnTo>
                  <a:lnTo>
                    <a:pt x="22964" y="3113427"/>
                  </a:lnTo>
                  <a:lnTo>
                    <a:pt x="47888" y="3130230"/>
                  </a:lnTo>
                  <a:lnTo>
                    <a:pt x="78409" y="3136392"/>
                  </a:lnTo>
                  <a:lnTo>
                    <a:pt x="8267065" y="3136392"/>
                  </a:lnTo>
                  <a:lnTo>
                    <a:pt x="8297578" y="3130230"/>
                  </a:lnTo>
                  <a:lnTo>
                    <a:pt x="8322484" y="3113427"/>
                  </a:lnTo>
                  <a:lnTo>
                    <a:pt x="8339270" y="3088503"/>
                  </a:lnTo>
                  <a:lnTo>
                    <a:pt x="8345424" y="3057982"/>
                  </a:lnTo>
                  <a:lnTo>
                    <a:pt x="8345424" y="78359"/>
                  </a:lnTo>
                  <a:lnTo>
                    <a:pt x="8339270" y="47845"/>
                  </a:lnTo>
                  <a:lnTo>
                    <a:pt x="8322484" y="22939"/>
                  </a:lnTo>
                  <a:lnTo>
                    <a:pt x="8297578" y="6153"/>
                  </a:lnTo>
                  <a:lnTo>
                    <a:pt x="82670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2900" y="1537715"/>
              <a:ext cx="8345805" cy="3136900"/>
            </a:xfrm>
            <a:custGeom>
              <a:avLst/>
              <a:gdLst/>
              <a:ahLst/>
              <a:cxnLst/>
              <a:rect l="l" t="t" r="r" b="b"/>
              <a:pathLst>
                <a:path w="8345805" h="3136900">
                  <a:moveTo>
                    <a:pt x="0" y="78359"/>
                  </a:moveTo>
                  <a:lnTo>
                    <a:pt x="6161" y="47845"/>
                  </a:lnTo>
                  <a:lnTo>
                    <a:pt x="22964" y="22939"/>
                  </a:lnTo>
                  <a:lnTo>
                    <a:pt x="47888" y="6153"/>
                  </a:lnTo>
                  <a:lnTo>
                    <a:pt x="78409" y="0"/>
                  </a:lnTo>
                  <a:lnTo>
                    <a:pt x="8267065" y="0"/>
                  </a:lnTo>
                  <a:lnTo>
                    <a:pt x="8297578" y="6153"/>
                  </a:lnTo>
                  <a:lnTo>
                    <a:pt x="8322484" y="22939"/>
                  </a:lnTo>
                  <a:lnTo>
                    <a:pt x="8339270" y="47845"/>
                  </a:lnTo>
                  <a:lnTo>
                    <a:pt x="8345424" y="78359"/>
                  </a:lnTo>
                  <a:lnTo>
                    <a:pt x="8345424" y="3057982"/>
                  </a:lnTo>
                  <a:lnTo>
                    <a:pt x="8339270" y="3088503"/>
                  </a:lnTo>
                  <a:lnTo>
                    <a:pt x="8322484" y="3113427"/>
                  </a:lnTo>
                  <a:lnTo>
                    <a:pt x="8297578" y="3130230"/>
                  </a:lnTo>
                  <a:lnTo>
                    <a:pt x="8267065" y="3136392"/>
                  </a:lnTo>
                  <a:lnTo>
                    <a:pt x="78409" y="3136392"/>
                  </a:lnTo>
                  <a:lnTo>
                    <a:pt x="47888" y="3130230"/>
                  </a:lnTo>
                  <a:lnTo>
                    <a:pt x="22964" y="3113427"/>
                  </a:lnTo>
                  <a:lnTo>
                    <a:pt x="6161" y="3088503"/>
                  </a:lnTo>
                  <a:lnTo>
                    <a:pt x="0" y="3057982"/>
                  </a:lnTo>
                  <a:lnTo>
                    <a:pt x="0" y="78359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5800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4804" y="918794"/>
            <a:ext cx="538289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Solution</a:t>
            </a:r>
            <a:r>
              <a:rPr sz="2600" b="1" spc="-5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9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Quantum</a:t>
            </a:r>
            <a:r>
              <a:rPr sz="2600" b="1" spc="-6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Advantage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3404" y="1820417"/>
            <a:ext cx="773430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1B5B"/>
                </a:solidFill>
                <a:latin typeface="Calibri"/>
                <a:cs typeface="Calibri"/>
              </a:rPr>
              <a:t>SOLUTION</a:t>
            </a:r>
            <a:r>
              <a:rPr sz="18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D1B5B"/>
                </a:solidFill>
                <a:latin typeface="Calibri"/>
                <a:cs typeface="Calibri"/>
              </a:rPr>
              <a:t>—</a:t>
            </a:r>
            <a:r>
              <a:rPr sz="18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800" b="1" spc="-1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Qiskit’s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energies,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compare them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results,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display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findings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in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an</a:t>
            </a:r>
            <a:endParaRPr sz="1200" dirty="0">
              <a:latin typeface="Calibri"/>
              <a:cs typeface="Calibri"/>
            </a:endParaRPr>
          </a:p>
          <a:p>
            <a:pPr marL="12700" marR="6334125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interactive dashboard.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HOW</a:t>
            </a:r>
            <a:r>
              <a:rPr sz="1200" b="1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IT</a:t>
            </a:r>
            <a:r>
              <a:rPr sz="1200" b="1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WORKS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3404" y="2649423"/>
            <a:ext cx="7385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Step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Select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Calculate</a:t>
            </a:r>
            <a:endParaRPr sz="1200">
              <a:latin typeface="Calibri"/>
              <a:cs typeface="Calibri"/>
            </a:endParaRPr>
          </a:p>
          <a:p>
            <a:pPr marL="161290" indent="-148590">
              <a:lnSpc>
                <a:spcPct val="100000"/>
              </a:lnSpc>
              <a:buAutoNum type="arabicPeriod"/>
              <a:tabLst>
                <a:tab pos="161290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Compare</a:t>
            </a:r>
            <a:endParaRPr sz="1200">
              <a:latin typeface="Calibri"/>
              <a:cs typeface="Calibri"/>
            </a:endParaRPr>
          </a:p>
          <a:p>
            <a:pPr marL="161925" indent="-149225">
              <a:lnSpc>
                <a:spcPct val="100000"/>
              </a:lnSpc>
              <a:buAutoNum type="arabicPeriod"/>
              <a:tabLst>
                <a:tab pos="161925" algn="l"/>
              </a:tabLst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Visualize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8135" y="2649423"/>
            <a:ext cx="426466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Description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Choose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molecule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example,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LiH,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NaH,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NaF,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or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Li₂.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Run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on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simulator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obtain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reference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energies.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Analyze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curves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errors.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using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Streamlit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dashboard</a:t>
            </a:r>
            <a:endParaRPr sz="1200" dirty="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F7DE16A-DEC8-6EBF-F77B-5DCA7DE76D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381" t="12292" r="2170" b="23898"/>
          <a:stretch>
            <a:fillRect/>
          </a:stretch>
        </p:blipFill>
        <p:spPr>
          <a:xfrm>
            <a:off x="4495800" y="3260725"/>
            <a:ext cx="4114800" cy="1249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462407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Algorithm</a:t>
            </a:r>
            <a:r>
              <a:rPr sz="2600" b="1" spc="-5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10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Circuit</a:t>
            </a:r>
            <a:r>
              <a:rPr sz="2600" b="1" spc="-3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Design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1104" y="1685544"/>
            <a:ext cx="4953000" cy="2941320"/>
            <a:chOff x="451104" y="1685544"/>
            <a:chExt cx="4953000" cy="2941320"/>
          </a:xfrm>
        </p:grpSpPr>
        <p:sp>
          <p:nvSpPr>
            <p:cNvPr id="27" name="object 27"/>
            <p:cNvSpPr/>
            <p:nvPr/>
          </p:nvSpPr>
          <p:spPr>
            <a:xfrm>
              <a:off x="458724" y="1693164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486460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2" y="2926080"/>
                  </a:lnTo>
                  <a:lnTo>
                    <a:pt x="4864608" y="2926080"/>
                  </a:lnTo>
                  <a:lnTo>
                    <a:pt x="4893075" y="2920331"/>
                  </a:lnTo>
                  <a:lnTo>
                    <a:pt x="4916328" y="2904653"/>
                  </a:lnTo>
                  <a:lnTo>
                    <a:pt x="4932009" y="2881401"/>
                  </a:lnTo>
                  <a:lnTo>
                    <a:pt x="4937760" y="2852928"/>
                  </a:lnTo>
                  <a:lnTo>
                    <a:pt x="4937760" y="73151"/>
                  </a:lnTo>
                  <a:lnTo>
                    <a:pt x="4932009" y="44684"/>
                  </a:lnTo>
                  <a:lnTo>
                    <a:pt x="4916328" y="21431"/>
                  </a:lnTo>
                  <a:lnTo>
                    <a:pt x="4893075" y="5750"/>
                  </a:lnTo>
                  <a:lnTo>
                    <a:pt x="4864608" y="0"/>
                  </a:lnTo>
                  <a:close/>
                </a:path>
              </a:pathLst>
            </a:custGeom>
            <a:solidFill>
              <a:srgbClr val="EDE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4" y="1693164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4864608" y="0"/>
                  </a:lnTo>
                  <a:lnTo>
                    <a:pt x="4893075" y="5750"/>
                  </a:lnTo>
                  <a:lnTo>
                    <a:pt x="4916328" y="21431"/>
                  </a:lnTo>
                  <a:lnTo>
                    <a:pt x="4932009" y="44684"/>
                  </a:lnTo>
                  <a:lnTo>
                    <a:pt x="4937760" y="73151"/>
                  </a:lnTo>
                  <a:lnTo>
                    <a:pt x="4937760" y="2852928"/>
                  </a:lnTo>
                  <a:lnTo>
                    <a:pt x="4932009" y="2881401"/>
                  </a:lnTo>
                  <a:lnTo>
                    <a:pt x="4916328" y="2904653"/>
                  </a:lnTo>
                  <a:lnTo>
                    <a:pt x="4893075" y="2920331"/>
                  </a:lnTo>
                  <a:lnTo>
                    <a:pt x="4864608" y="2926080"/>
                  </a:lnTo>
                  <a:lnTo>
                    <a:pt x="73152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15240">
              <a:solidFill>
                <a:srgbClr val="7B92E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130932" y="2944113"/>
            <a:ext cx="1591945" cy="407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B3AA8"/>
                </a:solidFill>
                <a:latin typeface="Calibri"/>
                <a:cs typeface="Calibri"/>
              </a:rPr>
              <a:t>Insert</a:t>
            </a:r>
            <a:r>
              <a:rPr sz="1400" b="1" spc="-2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B3AA8"/>
                </a:solidFill>
                <a:latin typeface="Calibri"/>
                <a:cs typeface="Calibri"/>
              </a:rPr>
              <a:t>circuit</a:t>
            </a:r>
            <a:r>
              <a:rPr sz="1400" b="1" spc="-2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B3AA8"/>
                </a:solidFill>
                <a:latin typeface="Calibri"/>
                <a:cs typeface="Calibri"/>
              </a:rPr>
              <a:t>diagram</a:t>
            </a:r>
            <a:endParaRPr sz="1400">
              <a:latin typeface="Calibri"/>
              <a:cs typeface="Calibri"/>
            </a:endParaRPr>
          </a:p>
          <a:p>
            <a:pPr marL="238125">
              <a:lnSpc>
                <a:spcPct val="100000"/>
              </a:lnSpc>
              <a:spcBef>
                <a:spcPts val="10"/>
              </a:spcBef>
            </a:pP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e.g.</a:t>
            </a:r>
            <a:r>
              <a:rPr sz="1100" i="1" spc="-2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6E7399"/>
                </a:solidFill>
                <a:latin typeface="Calibri"/>
                <a:cs typeface="Calibri"/>
              </a:rPr>
              <a:t>qc.draw("mpl")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7200" y="1691639"/>
            <a:ext cx="4937760" cy="2871470"/>
            <a:chOff x="457200" y="1691639"/>
            <a:chExt cx="4937760" cy="2871470"/>
          </a:xfrm>
        </p:grpSpPr>
        <p:sp>
          <p:nvSpPr>
            <p:cNvPr id="39" name="object 39"/>
            <p:cNvSpPr/>
            <p:nvPr/>
          </p:nvSpPr>
          <p:spPr>
            <a:xfrm>
              <a:off x="4562856" y="2542031"/>
              <a:ext cx="18415" cy="60960"/>
            </a:xfrm>
            <a:custGeom>
              <a:avLst/>
              <a:gdLst/>
              <a:ahLst/>
              <a:cxnLst/>
              <a:rect l="l" t="t" r="r" b="b"/>
              <a:pathLst>
                <a:path w="18414" h="60960">
                  <a:moveTo>
                    <a:pt x="18288" y="0"/>
                  </a:moveTo>
                  <a:lnTo>
                    <a:pt x="0" y="0"/>
                  </a:lnTo>
                  <a:lnTo>
                    <a:pt x="0" y="60960"/>
                  </a:lnTo>
                  <a:lnTo>
                    <a:pt x="18288" y="60960"/>
                  </a:lnTo>
                  <a:lnTo>
                    <a:pt x="18288" y="0"/>
                  </a:lnTo>
                  <a:close/>
                </a:path>
              </a:pathLst>
            </a:custGeom>
            <a:solidFill>
              <a:srgbClr val="F3F6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200" y="1691639"/>
              <a:ext cx="4937760" cy="2871216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705665" y="1715833"/>
            <a:ext cx="3322954" cy="2935605"/>
            <a:chOff x="5705665" y="1715833"/>
            <a:chExt cx="3322954" cy="2935605"/>
          </a:xfrm>
        </p:grpSpPr>
        <p:sp>
          <p:nvSpPr>
            <p:cNvPr id="31" name="object 31"/>
            <p:cNvSpPr/>
            <p:nvPr/>
          </p:nvSpPr>
          <p:spPr>
            <a:xfrm>
              <a:off x="5710428" y="1720595"/>
              <a:ext cx="3313429" cy="2926080"/>
            </a:xfrm>
            <a:custGeom>
              <a:avLst/>
              <a:gdLst/>
              <a:ahLst/>
              <a:cxnLst/>
              <a:rect l="l" t="t" r="r" b="b"/>
              <a:pathLst>
                <a:path w="3313429" h="2926079">
                  <a:moveTo>
                    <a:pt x="3240024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50" y="2881401"/>
                  </a:lnTo>
                  <a:lnTo>
                    <a:pt x="21431" y="2904653"/>
                  </a:lnTo>
                  <a:lnTo>
                    <a:pt x="44684" y="2920331"/>
                  </a:lnTo>
                  <a:lnTo>
                    <a:pt x="73151" y="2926079"/>
                  </a:lnTo>
                  <a:lnTo>
                    <a:pt x="3240024" y="2926079"/>
                  </a:lnTo>
                  <a:lnTo>
                    <a:pt x="3268491" y="2920331"/>
                  </a:lnTo>
                  <a:lnTo>
                    <a:pt x="3291744" y="2904653"/>
                  </a:lnTo>
                  <a:lnTo>
                    <a:pt x="3307425" y="2881401"/>
                  </a:lnTo>
                  <a:lnTo>
                    <a:pt x="3313176" y="2852928"/>
                  </a:lnTo>
                  <a:lnTo>
                    <a:pt x="3313176" y="73151"/>
                  </a:lnTo>
                  <a:lnTo>
                    <a:pt x="3307425" y="44684"/>
                  </a:lnTo>
                  <a:lnTo>
                    <a:pt x="3291744" y="21431"/>
                  </a:lnTo>
                  <a:lnTo>
                    <a:pt x="3268491" y="5750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710428" y="1720595"/>
              <a:ext cx="3313429" cy="2926080"/>
            </a:xfrm>
            <a:custGeom>
              <a:avLst/>
              <a:gdLst/>
              <a:ahLst/>
              <a:cxnLst/>
              <a:rect l="l" t="t" r="r" b="b"/>
              <a:pathLst>
                <a:path w="3313429" h="2926079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40024" y="0"/>
                  </a:lnTo>
                  <a:lnTo>
                    <a:pt x="3268491" y="5750"/>
                  </a:lnTo>
                  <a:lnTo>
                    <a:pt x="3291744" y="21431"/>
                  </a:lnTo>
                  <a:lnTo>
                    <a:pt x="3307425" y="44684"/>
                  </a:lnTo>
                  <a:lnTo>
                    <a:pt x="3313176" y="73151"/>
                  </a:lnTo>
                  <a:lnTo>
                    <a:pt x="3313176" y="2852928"/>
                  </a:lnTo>
                  <a:lnTo>
                    <a:pt x="3307425" y="2881401"/>
                  </a:lnTo>
                  <a:lnTo>
                    <a:pt x="3291744" y="2904653"/>
                  </a:lnTo>
                  <a:lnTo>
                    <a:pt x="3268491" y="2920331"/>
                  </a:lnTo>
                  <a:lnTo>
                    <a:pt x="3240024" y="2926079"/>
                  </a:lnTo>
                  <a:lnTo>
                    <a:pt x="73151" y="2926079"/>
                  </a:lnTo>
                  <a:lnTo>
                    <a:pt x="44684" y="2920331"/>
                  </a:lnTo>
                  <a:lnTo>
                    <a:pt x="21431" y="2904653"/>
                  </a:lnTo>
                  <a:lnTo>
                    <a:pt x="5750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800344" y="1685544"/>
            <a:ext cx="835660" cy="67310"/>
            <a:chOff x="5800344" y="1685544"/>
            <a:chExt cx="835660" cy="67310"/>
          </a:xfrm>
        </p:grpSpPr>
        <p:sp>
          <p:nvSpPr>
            <p:cNvPr id="36" name="object 36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810503" y="1765554"/>
            <a:ext cx="884555" cy="1091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Component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Ansatz Optimizer Simulator Reference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14912" y="1765554"/>
            <a:ext cx="1712595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960" marR="1101725" indent="-48895" algn="just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Method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UCCSD SLSQP</a:t>
            </a:r>
            <a:endParaRPr sz="1400">
              <a:latin typeface="Calibri"/>
              <a:cs typeface="Calibri"/>
            </a:endParaRPr>
          </a:p>
          <a:p>
            <a:pPr marL="34925" marR="5080" indent="12065">
              <a:lnSpc>
                <a:spcPct val="100000"/>
              </a:lnSpc>
            </a:pP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4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ideal</a:t>
            </a:r>
            <a:r>
              <a:rPr sz="14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state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vector </a:t>
            </a:r>
            <a:r>
              <a:rPr sz="14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4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D1B5B"/>
                </a:solidFill>
                <a:latin typeface="Calibri"/>
                <a:cs typeface="Calibri"/>
              </a:rPr>
              <a:t>exact </a:t>
            </a:r>
            <a:r>
              <a:rPr sz="1400" spc="-10" dirty="0">
                <a:solidFill>
                  <a:srgbClr val="2D1B5B"/>
                </a:solidFill>
                <a:latin typeface="Calibri"/>
                <a:cs typeface="Calibri"/>
              </a:rPr>
              <a:t>diagonalization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504825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Implementation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 &amp;</a:t>
            </a:r>
            <a:r>
              <a:rPr sz="2600" b="1" spc="-6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Tech</a:t>
            </a:r>
            <a:r>
              <a:rPr sz="2600" b="1" spc="-4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Stack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3961" y="1685289"/>
            <a:ext cx="8239125" cy="3014980"/>
            <a:chOff x="453961" y="1685289"/>
            <a:chExt cx="8239125" cy="3014980"/>
          </a:xfrm>
        </p:grpSpPr>
        <p:sp>
          <p:nvSpPr>
            <p:cNvPr id="27" name="object 27"/>
            <p:cNvSpPr/>
            <p:nvPr/>
          </p:nvSpPr>
          <p:spPr>
            <a:xfrm>
              <a:off x="458723" y="1693163"/>
              <a:ext cx="8229600" cy="3002280"/>
            </a:xfrm>
            <a:custGeom>
              <a:avLst/>
              <a:gdLst/>
              <a:ahLst/>
              <a:cxnLst/>
              <a:rect l="l" t="t" r="r" b="b"/>
              <a:pathLst>
                <a:path w="8229600" h="3002279">
                  <a:moveTo>
                    <a:pt x="8154543" y="0"/>
                  </a:moveTo>
                  <a:lnTo>
                    <a:pt x="75057" y="0"/>
                  </a:lnTo>
                  <a:lnTo>
                    <a:pt x="45841" y="5905"/>
                  </a:lnTo>
                  <a:lnTo>
                    <a:pt x="21983" y="22002"/>
                  </a:lnTo>
                  <a:lnTo>
                    <a:pt x="5898" y="45862"/>
                  </a:lnTo>
                  <a:lnTo>
                    <a:pt x="0" y="75057"/>
                  </a:lnTo>
                  <a:lnTo>
                    <a:pt x="0" y="2927223"/>
                  </a:lnTo>
                  <a:lnTo>
                    <a:pt x="5898" y="2956438"/>
                  </a:lnTo>
                  <a:lnTo>
                    <a:pt x="21983" y="2980296"/>
                  </a:lnTo>
                  <a:lnTo>
                    <a:pt x="45841" y="2996381"/>
                  </a:lnTo>
                  <a:lnTo>
                    <a:pt x="75057" y="3002280"/>
                  </a:lnTo>
                  <a:lnTo>
                    <a:pt x="8154543" y="3002280"/>
                  </a:lnTo>
                  <a:lnTo>
                    <a:pt x="8183737" y="2996381"/>
                  </a:lnTo>
                  <a:lnTo>
                    <a:pt x="8207597" y="2980296"/>
                  </a:lnTo>
                  <a:lnTo>
                    <a:pt x="8223694" y="2956438"/>
                  </a:lnTo>
                  <a:lnTo>
                    <a:pt x="8229600" y="2927223"/>
                  </a:lnTo>
                  <a:lnTo>
                    <a:pt x="8229600" y="75057"/>
                  </a:lnTo>
                  <a:lnTo>
                    <a:pt x="8223694" y="45862"/>
                  </a:lnTo>
                  <a:lnTo>
                    <a:pt x="8207597" y="22002"/>
                  </a:lnTo>
                  <a:lnTo>
                    <a:pt x="8183737" y="5905"/>
                  </a:lnTo>
                  <a:lnTo>
                    <a:pt x="8154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3" y="1693163"/>
              <a:ext cx="8229600" cy="3002280"/>
            </a:xfrm>
            <a:custGeom>
              <a:avLst/>
              <a:gdLst/>
              <a:ahLst/>
              <a:cxnLst/>
              <a:rect l="l" t="t" r="r" b="b"/>
              <a:pathLst>
                <a:path w="8229600" h="3002279">
                  <a:moveTo>
                    <a:pt x="0" y="75057"/>
                  </a:moveTo>
                  <a:lnTo>
                    <a:pt x="5898" y="45862"/>
                  </a:lnTo>
                  <a:lnTo>
                    <a:pt x="21983" y="22002"/>
                  </a:lnTo>
                  <a:lnTo>
                    <a:pt x="45841" y="5905"/>
                  </a:lnTo>
                  <a:lnTo>
                    <a:pt x="75057" y="0"/>
                  </a:lnTo>
                  <a:lnTo>
                    <a:pt x="8154543" y="0"/>
                  </a:lnTo>
                  <a:lnTo>
                    <a:pt x="8183737" y="5905"/>
                  </a:lnTo>
                  <a:lnTo>
                    <a:pt x="8207597" y="22002"/>
                  </a:lnTo>
                  <a:lnTo>
                    <a:pt x="8223694" y="45862"/>
                  </a:lnTo>
                  <a:lnTo>
                    <a:pt x="8229600" y="75057"/>
                  </a:lnTo>
                  <a:lnTo>
                    <a:pt x="8229600" y="2927223"/>
                  </a:lnTo>
                  <a:lnTo>
                    <a:pt x="8223694" y="2956438"/>
                  </a:lnTo>
                  <a:lnTo>
                    <a:pt x="8207597" y="2980296"/>
                  </a:lnTo>
                  <a:lnTo>
                    <a:pt x="8183737" y="2996381"/>
                  </a:lnTo>
                  <a:lnTo>
                    <a:pt x="8154543" y="3002280"/>
                  </a:lnTo>
                  <a:lnTo>
                    <a:pt x="75057" y="3002280"/>
                  </a:lnTo>
                  <a:lnTo>
                    <a:pt x="45841" y="2996381"/>
                  </a:lnTo>
                  <a:lnTo>
                    <a:pt x="21983" y="2980296"/>
                  </a:lnTo>
                  <a:lnTo>
                    <a:pt x="5898" y="2956438"/>
                  </a:lnTo>
                  <a:lnTo>
                    <a:pt x="0" y="2927223"/>
                  </a:lnTo>
                  <a:lnTo>
                    <a:pt x="0" y="75057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19124" y="1853945"/>
            <a:ext cx="3497579" cy="10267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IMPLEMENTATION</a:t>
            </a:r>
            <a:endParaRPr sz="14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is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built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in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Python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Streamlit</a:t>
            </a:r>
            <a:r>
              <a:rPr sz="1200" spc="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dashboard.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It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combines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Qiskit-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based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simulations,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energy comparisons,</a:t>
            </a:r>
            <a:r>
              <a:rPr sz="1200" spc="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interactive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visualizations.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880"/>
              </a:lnSpc>
            </a:pPr>
            <a:r>
              <a:rPr sz="1600" b="1" dirty="0">
                <a:solidFill>
                  <a:srgbClr val="2D1B5B"/>
                </a:solidFill>
                <a:latin typeface="Calibri"/>
                <a:cs typeface="Calibri"/>
              </a:rPr>
              <a:t>TECH</a:t>
            </a:r>
            <a:r>
              <a:rPr sz="16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STACK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9124" y="2860294"/>
            <a:ext cx="134747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Component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Programming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Framework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Chemistry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Algorithm Optimization Simulation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Reference</a:t>
            </a:r>
            <a:endParaRPr sz="1200">
              <a:latin typeface="Calibri"/>
              <a:cs typeface="Calibri"/>
            </a:endParaRPr>
          </a:p>
          <a:p>
            <a:pPr marL="12700" marR="658495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Dashboard Testing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48508" y="2860294"/>
            <a:ext cx="168148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Technology</a:t>
            </a:r>
            <a:r>
              <a:rPr sz="1200" b="1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/</a:t>
            </a:r>
            <a:r>
              <a:rPr sz="12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Purpose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Python</a:t>
            </a:r>
            <a:endParaRPr sz="1200">
              <a:latin typeface="Calibri"/>
              <a:cs typeface="Calibri"/>
            </a:endParaRPr>
          </a:p>
          <a:p>
            <a:pPr marL="12700" marR="173355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Qiskit,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Qiskit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Nature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PySCF,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where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supported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UCCSD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SLSQP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StatevectorEstimator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Exact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diagonalization Streamlit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pytest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DA3AF63-96B7-5D18-3685-3DF6BC3F6B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63" t="20279" r="1882" b="10220"/>
          <a:stretch>
            <a:fillRect/>
          </a:stretch>
        </p:blipFill>
        <p:spPr>
          <a:xfrm>
            <a:off x="4218557" y="2416358"/>
            <a:ext cx="4466720" cy="1838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3145790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Results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7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Analysis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579119" y="1758695"/>
            <a:ext cx="4953000" cy="2941320"/>
            <a:chOff x="579119" y="1758695"/>
            <a:chExt cx="4953000" cy="2941320"/>
          </a:xfrm>
        </p:grpSpPr>
        <p:sp>
          <p:nvSpPr>
            <p:cNvPr id="27" name="object 27"/>
            <p:cNvSpPr/>
            <p:nvPr/>
          </p:nvSpPr>
          <p:spPr>
            <a:xfrm>
              <a:off x="586739" y="1766315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486460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1" y="2926080"/>
                  </a:lnTo>
                  <a:lnTo>
                    <a:pt x="4864608" y="2926080"/>
                  </a:lnTo>
                  <a:lnTo>
                    <a:pt x="4893075" y="2920331"/>
                  </a:lnTo>
                  <a:lnTo>
                    <a:pt x="4916328" y="2904653"/>
                  </a:lnTo>
                  <a:lnTo>
                    <a:pt x="4932009" y="2881401"/>
                  </a:lnTo>
                  <a:lnTo>
                    <a:pt x="4937760" y="2852928"/>
                  </a:lnTo>
                  <a:lnTo>
                    <a:pt x="4937760" y="73152"/>
                  </a:lnTo>
                  <a:lnTo>
                    <a:pt x="4932009" y="44684"/>
                  </a:lnTo>
                  <a:lnTo>
                    <a:pt x="4916328" y="21431"/>
                  </a:lnTo>
                  <a:lnTo>
                    <a:pt x="4893075" y="5750"/>
                  </a:lnTo>
                  <a:lnTo>
                    <a:pt x="4864608" y="0"/>
                  </a:lnTo>
                  <a:close/>
                </a:path>
              </a:pathLst>
            </a:custGeom>
            <a:solidFill>
              <a:srgbClr val="EDE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6739" y="1766315"/>
              <a:ext cx="4937760" cy="2926080"/>
            </a:xfrm>
            <a:custGeom>
              <a:avLst/>
              <a:gdLst/>
              <a:ahLst/>
              <a:cxnLst/>
              <a:rect l="l" t="t" r="r" b="b"/>
              <a:pathLst>
                <a:path w="4937760" h="2926079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4864608" y="0"/>
                  </a:lnTo>
                  <a:lnTo>
                    <a:pt x="4893075" y="5750"/>
                  </a:lnTo>
                  <a:lnTo>
                    <a:pt x="4916328" y="21431"/>
                  </a:lnTo>
                  <a:lnTo>
                    <a:pt x="4932009" y="44684"/>
                  </a:lnTo>
                  <a:lnTo>
                    <a:pt x="4937760" y="73152"/>
                  </a:lnTo>
                  <a:lnTo>
                    <a:pt x="4937760" y="2852928"/>
                  </a:lnTo>
                  <a:lnTo>
                    <a:pt x="4932009" y="2881401"/>
                  </a:lnTo>
                  <a:lnTo>
                    <a:pt x="4916328" y="2904653"/>
                  </a:lnTo>
                  <a:lnTo>
                    <a:pt x="4893075" y="2920331"/>
                  </a:lnTo>
                  <a:lnTo>
                    <a:pt x="4864608" y="2926080"/>
                  </a:lnTo>
                  <a:lnTo>
                    <a:pt x="73151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2"/>
                  </a:lnTo>
                  <a:close/>
                </a:path>
              </a:pathLst>
            </a:custGeom>
            <a:ln w="15240">
              <a:solidFill>
                <a:srgbClr val="7B92E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65629" y="2980689"/>
            <a:ext cx="1377950" cy="407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5B3AA8"/>
                </a:solidFill>
                <a:latin typeface="Calibri"/>
                <a:cs typeface="Calibri"/>
              </a:rPr>
              <a:t>Insert</a:t>
            </a:r>
            <a:r>
              <a:rPr sz="1400" b="1" spc="-3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B3AA8"/>
                </a:solidFill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Histogram,</a:t>
            </a:r>
            <a:r>
              <a:rPr sz="1100" i="1" spc="-55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plot</a:t>
            </a:r>
            <a:r>
              <a:rPr sz="1100" i="1" spc="-2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6E7399"/>
                </a:solidFill>
                <a:latin typeface="Calibri"/>
                <a:cs typeface="Calibri"/>
              </a:rPr>
              <a:t>or</a:t>
            </a:r>
            <a:r>
              <a:rPr sz="1100" i="1" spc="-1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100" i="1" spc="-20" dirty="0">
                <a:solidFill>
                  <a:srgbClr val="6E7399"/>
                </a:solidFill>
                <a:latin typeface="Calibri"/>
                <a:cs typeface="Calibri"/>
              </a:rPr>
              <a:t>table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800344" y="1685544"/>
            <a:ext cx="835660" cy="67310"/>
            <a:chOff x="5800344" y="1685544"/>
            <a:chExt cx="835660" cy="67310"/>
          </a:xfrm>
        </p:grpSpPr>
        <p:sp>
          <p:nvSpPr>
            <p:cNvPr id="34" name="object 34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06440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59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611367" y="2093975"/>
            <a:ext cx="3380740" cy="2529840"/>
            <a:chOff x="5611367" y="2093975"/>
            <a:chExt cx="3380740" cy="2529840"/>
          </a:xfrm>
        </p:grpSpPr>
        <p:sp>
          <p:nvSpPr>
            <p:cNvPr id="31" name="object 31"/>
            <p:cNvSpPr/>
            <p:nvPr/>
          </p:nvSpPr>
          <p:spPr>
            <a:xfrm>
              <a:off x="5615939" y="2098547"/>
              <a:ext cx="3371215" cy="2520950"/>
            </a:xfrm>
            <a:custGeom>
              <a:avLst/>
              <a:gdLst/>
              <a:ahLst/>
              <a:cxnLst/>
              <a:rect l="l" t="t" r="r" b="b"/>
              <a:pathLst>
                <a:path w="3371215" h="2520950">
                  <a:moveTo>
                    <a:pt x="3308095" y="0"/>
                  </a:moveTo>
                  <a:lnTo>
                    <a:pt x="62992" y="0"/>
                  </a:lnTo>
                  <a:lnTo>
                    <a:pt x="38469" y="4949"/>
                  </a:lnTo>
                  <a:lnTo>
                    <a:pt x="18446" y="18446"/>
                  </a:lnTo>
                  <a:lnTo>
                    <a:pt x="4949" y="38469"/>
                  </a:lnTo>
                  <a:lnTo>
                    <a:pt x="0" y="62992"/>
                  </a:lnTo>
                  <a:lnTo>
                    <a:pt x="0" y="2457678"/>
                  </a:lnTo>
                  <a:lnTo>
                    <a:pt x="4949" y="2482205"/>
                  </a:lnTo>
                  <a:lnTo>
                    <a:pt x="18446" y="2502236"/>
                  </a:lnTo>
                  <a:lnTo>
                    <a:pt x="38469" y="2515743"/>
                  </a:lnTo>
                  <a:lnTo>
                    <a:pt x="62992" y="2520696"/>
                  </a:lnTo>
                  <a:lnTo>
                    <a:pt x="3308095" y="2520696"/>
                  </a:lnTo>
                  <a:lnTo>
                    <a:pt x="3332618" y="2515742"/>
                  </a:lnTo>
                  <a:lnTo>
                    <a:pt x="3352641" y="2502236"/>
                  </a:lnTo>
                  <a:lnTo>
                    <a:pt x="3366138" y="2482205"/>
                  </a:lnTo>
                  <a:lnTo>
                    <a:pt x="3371088" y="2457678"/>
                  </a:lnTo>
                  <a:lnTo>
                    <a:pt x="3371088" y="62992"/>
                  </a:lnTo>
                  <a:lnTo>
                    <a:pt x="3366138" y="38469"/>
                  </a:lnTo>
                  <a:lnTo>
                    <a:pt x="3352641" y="18446"/>
                  </a:lnTo>
                  <a:lnTo>
                    <a:pt x="3332618" y="4949"/>
                  </a:lnTo>
                  <a:lnTo>
                    <a:pt x="33080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615939" y="2098547"/>
              <a:ext cx="3371215" cy="2520950"/>
            </a:xfrm>
            <a:custGeom>
              <a:avLst/>
              <a:gdLst/>
              <a:ahLst/>
              <a:cxnLst/>
              <a:rect l="l" t="t" r="r" b="b"/>
              <a:pathLst>
                <a:path w="3371215" h="2520950">
                  <a:moveTo>
                    <a:pt x="0" y="62992"/>
                  </a:moveTo>
                  <a:lnTo>
                    <a:pt x="4949" y="38469"/>
                  </a:lnTo>
                  <a:lnTo>
                    <a:pt x="18446" y="18446"/>
                  </a:lnTo>
                  <a:lnTo>
                    <a:pt x="38469" y="4949"/>
                  </a:lnTo>
                  <a:lnTo>
                    <a:pt x="62992" y="0"/>
                  </a:lnTo>
                  <a:lnTo>
                    <a:pt x="3308095" y="0"/>
                  </a:lnTo>
                  <a:lnTo>
                    <a:pt x="3332618" y="4949"/>
                  </a:lnTo>
                  <a:lnTo>
                    <a:pt x="3352641" y="18446"/>
                  </a:lnTo>
                  <a:lnTo>
                    <a:pt x="3366138" y="38469"/>
                  </a:lnTo>
                  <a:lnTo>
                    <a:pt x="3371088" y="62992"/>
                  </a:lnTo>
                  <a:lnTo>
                    <a:pt x="3371088" y="2457678"/>
                  </a:lnTo>
                  <a:lnTo>
                    <a:pt x="3366138" y="2482205"/>
                  </a:lnTo>
                  <a:lnTo>
                    <a:pt x="3352641" y="2502236"/>
                  </a:lnTo>
                  <a:lnTo>
                    <a:pt x="3332618" y="2515742"/>
                  </a:lnTo>
                  <a:lnTo>
                    <a:pt x="3308095" y="2520696"/>
                  </a:lnTo>
                  <a:lnTo>
                    <a:pt x="62992" y="2520696"/>
                  </a:lnTo>
                  <a:lnTo>
                    <a:pt x="38469" y="2515743"/>
                  </a:lnTo>
                  <a:lnTo>
                    <a:pt x="18446" y="2502236"/>
                  </a:lnTo>
                  <a:lnTo>
                    <a:pt x="4949" y="2482205"/>
                  </a:lnTo>
                  <a:lnTo>
                    <a:pt x="0" y="2457678"/>
                  </a:lnTo>
                  <a:lnTo>
                    <a:pt x="0" y="62992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795517" y="2243073"/>
            <a:ext cx="2894330" cy="1978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25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600" b="1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1B5B"/>
                </a:solidFill>
                <a:latin typeface="Calibri"/>
                <a:cs typeface="Calibri"/>
              </a:rPr>
              <a:t>&amp;</a:t>
            </a:r>
            <a:r>
              <a:rPr sz="1600" b="1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Q-Lithos</a:t>
            </a:r>
            <a:r>
              <a:rPr sz="16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compares</a:t>
            </a:r>
            <a:r>
              <a:rPr sz="16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molecular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energies</a:t>
            </a:r>
            <a:r>
              <a:rPr sz="16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calculated</a:t>
            </a:r>
            <a:r>
              <a:rPr sz="16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using</a:t>
            </a:r>
            <a:r>
              <a:rPr sz="1600" spc="-7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6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with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classical </a:t>
            </a: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exact-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diagonalization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results.</a:t>
            </a:r>
            <a:r>
              <a:rPr sz="16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6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dashboard</a:t>
            </a:r>
            <a:r>
              <a:rPr sz="16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visualizes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6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changes</a:t>
            </a:r>
            <a:r>
              <a:rPr sz="1600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across</a:t>
            </a:r>
            <a:r>
              <a:rPr sz="16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2D1B5B"/>
                </a:solidFill>
                <a:latin typeface="Calibri"/>
                <a:cs typeface="Calibri"/>
              </a:rPr>
              <a:t>bond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distances</a:t>
            </a:r>
            <a:r>
              <a:rPr sz="16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helps</a:t>
            </a:r>
            <a:r>
              <a:rPr sz="16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examine </a:t>
            </a:r>
            <a:r>
              <a:rPr sz="1600" dirty="0">
                <a:solidFill>
                  <a:srgbClr val="2D1B5B"/>
                </a:solidFill>
                <a:latin typeface="Calibri"/>
                <a:cs typeface="Calibri"/>
              </a:rPr>
              <a:t>calculation</a:t>
            </a:r>
            <a:r>
              <a:rPr sz="1600" spc="-8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2D1B5B"/>
                </a:solidFill>
                <a:latin typeface="Calibri"/>
                <a:cs typeface="Calibri"/>
              </a:rPr>
              <a:t>errors.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FB2F99B-6B57-6629-A523-4B3734592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739" y="1766315"/>
            <a:ext cx="4952932" cy="2978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586168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Impact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6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25" dirty="0">
                <a:solidFill>
                  <a:srgbClr val="2D1B5B"/>
                </a:solidFill>
                <a:latin typeface="Georgia"/>
                <a:cs typeface="Georgia"/>
              </a:rPr>
              <a:t>Real-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World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Applications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4151" y="1685544"/>
            <a:ext cx="8239125" cy="2938780"/>
            <a:chOff x="454151" y="1685544"/>
            <a:chExt cx="8239125" cy="2938780"/>
          </a:xfrm>
        </p:grpSpPr>
        <p:sp>
          <p:nvSpPr>
            <p:cNvPr id="27" name="object 27"/>
            <p:cNvSpPr/>
            <p:nvPr/>
          </p:nvSpPr>
          <p:spPr>
            <a:xfrm>
              <a:off x="458723" y="1693164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815644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2" y="2926080"/>
                  </a:lnTo>
                  <a:lnTo>
                    <a:pt x="8156448" y="2926080"/>
                  </a:lnTo>
                  <a:lnTo>
                    <a:pt x="8184915" y="2920331"/>
                  </a:lnTo>
                  <a:lnTo>
                    <a:pt x="8208168" y="2904653"/>
                  </a:lnTo>
                  <a:lnTo>
                    <a:pt x="8223849" y="2881401"/>
                  </a:lnTo>
                  <a:lnTo>
                    <a:pt x="8229600" y="2852928"/>
                  </a:lnTo>
                  <a:lnTo>
                    <a:pt x="8229600" y="73151"/>
                  </a:lnTo>
                  <a:lnTo>
                    <a:pt x="8223849" y="44684"/>
                  </a:lnTo>
                  <a:lnTo>
                    <a:pt x="8208168" y="21431"/>
                  </a:lnTo>
                  <a:lnTo>
                    <a:pt x="8184915" y="5750"/>
                  </a:lnTo>
                  <a:lnTo>
                    <a:pt x="8156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3" y="1693164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8156448" y="0"/>
                  </a:lnTo>
                  <a:lnTo>
                    <a:pt x="8184915" y="5750"/>
                  </a:lnTo>
                  <a:lnTo>
                    <a:pt x="8208168" y="21431"/>
                  </a:lnTo>
                  <a:lnTo>
                    <a:pt x="8223849" y="44684"/>
                  </a:lnTo>
                  <a:lnTo>
                    <a:pt x="8229600" y="73151"/>
                  </a:lnTo>
                  <a:lnTo>
                    <a:pt x="8229600" y="2852928"/>
                  </a:lnTo>
                  <a:lnTo>
                    <a:pt x="8223849" y="2881401"/>
                  </a:lnTo>
                  <a:lnTo>
                    <a:pt x="8208168" y="2904653"/>
                  </a:lnTo>
                  <a:lnTo>
                    <a:pt x="8184915" y="2920331"/>
                  </a:lnTo>
                  <a:lnTo>
                    <a:pt x="8156448" y="2926080"/>
                  </a:lnTo>
                  <a:lnTo>
                    <a:pt x="73152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99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99" y="1691640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3404" y="1756409"/>
            <a:ext cx="6276340" cy="10077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REAL-WORLD</a:t>
            </a:r>
            <a:r>
              <a:rPr sz="16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Lithos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makes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quantum-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chemistry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 easier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understand.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By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comparing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VQE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with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calculations,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it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helps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users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study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changes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evaluate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the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accuracy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of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quantum-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algorithm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results.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APPLICATIONS</a:t>
            </a:r>
            <a:r>
              <a:rPr sz="1200" b="1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&amp;</a:t>
            </a:r>
            <a:r>
              <a:rPr sz="1200" b="1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POTENTIAL</a:t>
            </a:r>
            <a:r>
              <a:rPr sz="1200" b="1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200" b="1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3404" y="2738373"/>
            <a:ext cx="1727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Application</a:t>
            </a:r>
            <a:endParaRPr sz="12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Battery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Chemistry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Research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Algorithm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Testing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Scientific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Learning 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Early-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Stage</a:t>
            </a:r>
            <a:r>
              <a:rPr sz="1200" spc="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Exploration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02789" y="2738373"/>
            <a:ext cx="422148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Potential</a:t>
            </a:r>
            <a:r>
              <a:rPr sz="12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behaviour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of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selected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battery-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related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Evaluate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VQE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against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classical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reference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calculations.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Help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students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understand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molecular energy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curves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200" spc="-10" dirty="0">
                <a:solidFill>
                  <a:srgbClr val="2D1B5B"/>
                </a:solidFill>
                <a:latin typeface="Calibri"/>
                <a:cs typeface="Calibri"/>
              </a:rPr>
              <a:t>chemistry.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02789" y="3652850"/>
            <a:ext cx="36950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Visualize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identify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questions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further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research.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73404" y="4019194"/>
            <a:ext cx="4069715" cy="42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2D1B5B"/>
                </a:solidFill>
                <a:latin typeface="Calibri"/>
                <a:cs typeface="Calibri"/>
              </a:rPr>
              <a:t>OUR</a:t>
            </a:r>
            <a:r>
              <a:rPr sz="14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IMPACT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molecules.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Compare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calculations.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Understand</a:t>
            </a:r>
            <a:r>
              <a:rPr sz="1200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limitations.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7187042-E829-C5C4-4EFD-04153CCAC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269" y="2955926"/>
            <a:ext cx="4288791" cy="23685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444804" y="918794"/>
            <a:ext cx="4556125" cy="42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Challenges</a:t>
            </a:r>
            <a:r>
              <a:rPr sz="2600" b="1" spc="-4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&amp;</a:t>
            </a:r>
            <a:r>
              <a:rPr sz="2600" b="1" spc="-10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2D1B5B"/>
                </a:solidFill>
                <a:latin typeface="Georgia"/>
                <a:cs typeface="Georgia"/>
              </a:rPr>
              <a:t>Future</a:t>
            </a:r>
            <a:r>
              <a:rPr sz="2600" b="1" spc="-75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2600" b="1" spc="-10" dirty="0">
                <a:solidFill>
                  <a:srgbClr val="2D1B5B"/>
                </a:solidFill>
                <a:latin typeface="Georgia"/>
                <a:cs typeface="Georgia"/>
              </a:rPr>
              <a:t>Scope</a:t>
            </a:r>
            <a:endParaRPr sz="2600">
              <a:latin typeface="Georgia"/>
              <a:cs typeface="Georgi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86600" y="868679"/>
            <a:ext cx="548640" cy="32918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3719" y="1261871"/>
            <a:ext cx="384048" cy="22860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104" y="1456943"/>
            <a:ext cx="817244" cy="58419"/>
            <a:chOff x="451104" y="1456943"/>
            <a:chExt cx="817244" cy="58419"/>
          </a:xfrm>
        </p:grpSpPr>
        <p:sp>
          <p:nvSpPr>
            <p:cNvPr id="20" name="object 20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2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2" y="45720"/>
                  </a:lnTo>
                  <a:lnTo>
                    <a:pt x="256032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152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2" y="45720"/>
                  </a:lnTo>
                  <a:lnTo>
                    <a:pt x="256032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256031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256031" y="45720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05840" y="1463039"/>
              <a:ext cx="256540" cy="45720"/>
            </a:xfrm>
            <a:custGeom>
              <a:avLst/>
              <a:gdLst/>
              <a:ahLst/>
              <a:cxnLst/>
              <a:rect l="l" t="t" r="r" b="b"/>
              <a:pathLst>
                <a:path w="256540" h="45719">
                  <a:moveTo>
                    <a:pt x="0" y="45720"/>
                  </a:moveTo>
                  <a:lnTo>
                    <a:pt x="256031" y="45720"/>
                  </a:lnTo>
                  <a:lnTo>
                    <a:pt x="256031" y="0"/>
                  </a:lnTo>
                  <a:lnTo>
                    <a:pt x="0" y="0"/>
                  </a:lnTo>
                  <a:lnTo>
                    <a:pt x="0" y="45720"/>
                  </a:lnTo>
                  <a:close/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09559" y="822959"/>
            <a:ext cx="777240" cy="77723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453961" y="1685289"/>
            <a:ext cx="8239125" cy="2938780"/>
            <a:chOff x="453961" y="1685289"/>
            <a:chExt cx="8239125" cy="2938780"/>
          </a:xfrm>
        </p:grpSpPr>
        <p:sp>
          <p:nvSpPr>
            <p:cNvPr id="27" name="object 27"/>
            <p:cNvSpPr/>
            <p:nvPr/>
          </p:nvSpPr>
          <p:spPr>
            <a:xfrm>
              <a:off x="458723" y="1693163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8156448" y="0"/>
                  </a:moveTo>
                  <a:lnTo>
                    <a:pt x="73152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2852928"/>
                  </a:lnTo>
                  <a:lnTo>
                    <a:pt x="5748" y="2881401"/>
                  </a:lnTo>
                  <a:lnTo>
                    <a:pt x="21426" y="2904653"/>
                  </a:lnTo>
                  <a:lnTo>
                    <a:pt x="44678" y="2920331"/>
                  </a:lnTo>
                  <a:lnTo>
                    <a:pt x="73152" y="2926080"/>
                  </a:lnTo>
                  <a:lnTo>
                    <a:pt x="8156448" y="2926080"/>
                  </a:lnTo>
                  <a:lnTo>
                    <a:pt x="8184915" y="2920331"/>
                  </a:lnTo>
                  <a:lnTo>
                    <a:pt x="8208168" y="2904653"/>
                  </a:lnTo>
                  <a:lnTo>
                    <a:pt x="8223849" y="2881401"/>
                  </a:lnTo>
                  <a:lnTo>
                    <a:pt x="8229600" y="2852928"/>
                  </a:lnTo>
                  <a:lnTo>
                    <a:pt x="8229600" y="73151"/>
                  </a:lnTo>
                  <a:lnTo>
                    <a:pt x="8223849" y="44684"/>
                  </a:lnTo>
                  <a:lnTo>
                    <a:pt x="8208168" y="21431"/>
                  </a:lnTo>
                  <a:lnTo>
                    <a:pt x="8184915" y="5750"/>
                  </a:lnTo>
                  <a:lnTo>
                    <a:pt x="8156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8723" y="1693163"/>
              <a:ext cx="8229600" cy="2926080"/>
            </a:xfrm>
            <a:custGeom>
              <a:avLst/>
              <a:gdLst/>
              <a:ahLst/>
              <a:cxnLst/>
              <a:rect l="l" t="t" r="r" b="b"/>
              <a:pathLst>
                <a:path w="8229600" h="2926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2" y="0"/>
                  </a:lnTo>
                  <a:lnTo>
                    <a:pt x="8156448" y="0"/>
                  </a:lnTo>
                  <a:lnTo>
                    <a:pt x="8184915" y="5750"/>
                  </a:lnTo>
                  <a:lnTo>
                    <a:pt x="8208168" y="21431"/>
                  </a:lnTo>
                  <a:lnTo>
                    <a:pt x="8223849" y="44684"/>
                  </a:lnTo>
                  <a:lnTo>
                    <a:pt x="8229600" y="73151"/>
                  </a:lnTo>
                  <a:lnTo>
                    <a:pt x="8229600" y="2852928"/>
                  </a:lnTo>
                  <a:lnTo>
                    <a:pt x="8223849" y="2881401"/>
                  </a:lnTo>
                  <a:lnTo>
                    <a:pt x="8208168" y="2904653"/>
                  </a:lnTo>
                  <a:lnTo>
                    <a:pt x="8184915" y="2920331"/>
                  </a:lnTo>
                  <a:lnTo>
                    <a:pt x="8156448" y="2926080"/>
                  </a:lnTo>
                  <a:lnTo>
                    <a:pt x="73152" y="2926080"/>
                  </a:lnTo>
                  <a:lnTo>
                    <a:pt x="44678" y="2920331"/>
                  </a:lnTo>
                  <a:lnTo>
                    <a:pt x="21426" y="2904653"/>
                  </a:lnTo>
                  <a:lnTo>
                    <a:pt x="5748" y="2881401"/>
                  </a:lnTo>
                  <a:lnTo>
                    <a:pt x="0" y="2852928"/>
                  </a:lnTo>
                  <a:lnTo>
                    <a:pt x="0" y="73151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82296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22960" y="54863"/>
                  </a:lnTo>
                  <a:lnTo>
                    <a:pt x="822960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85799" y="1691639"/>
              <a:ext cx="822960" cy="55244"/>
            </a:xfrm>
            <a:custGeom>
              <a:avLst/>
              <a:gdLst/>
              <a:ahLst/>
              <a:cxnLst/>
              <a:rect l="l" t="t" r="r" b="b"/>
              <a:pathLst>
                <a:path w="822960" h="55244">
                  <a:moveTo>
                    <a:pt x="0" y="54863"/>
                  </a:moveTo>
                  <a:lnTo>
                    <a:pt x="822960" y="54863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73404" y="1744217"/>
            <a:ext cx="1710689" cy="11537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2D1B5B"/>
                </a:solidFill>
                <a:latin typeface="Calibri"/>
                <a:cs typeface="Calibri"/>
              </a:rPr>
              <a:t>CURRENT</a:t>
            </a:r>
            <a:r>
              <a:rPr sz="14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CHALLENGES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Challenge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Limited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Model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Accuracy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Small-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Molecule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Models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Simulation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Limits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96692" y="1957577"/>
            <a:ext cx="40792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What</a:t>
            </a:r>
            <a:r>
              <a:rPr sz="12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it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2D1B5B"/>
                </a:solidFill>
                <a:latin typeface="Calibri"/>
                <a:cs typeface="Calibri"/>
              </a:rPr>
              <a:t>means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Currently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explores</a:t>
            </a:r>
            <a:r>
              <a:rPr sz="1200" spc="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LiH,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NaH, 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NaF,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Li₂.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Results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depend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chosen</a:t>
            </a:r>
            <a:r>
              <a:rPr sz="1200" spc="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basis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active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space.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Current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 do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not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represent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complete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battery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materials.</a:t>
            </a:r>
            <a:endParaRPr sz="12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Uses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ideal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local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simulator,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not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physical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hardware.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73404" y="3055061"/>
            <a:ext cx="1743710" cy="1520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2D1B5B"/>
                </a:solidFill>
                <a:latin typeface="Calibri"/>
                <a:cs typeface="Calibri"/>
              </a:rPr>
              <a:t>FUTURE</a:t>
            </a:r>
            <a:r>
              <a:rPr sz="1400" b="1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2D1B5B"/>
                </a:solidFill>
                <a:latin typeface="Calibri"/>
                <a:cs typeface="Calibri"/>
              </a:rPr>
              <a:t>SCOPE</a:t>
            </a:r>
            <a:endParaRPr sz="1400" dirty="0">
              <a:latin typeface="Calibri"/>
              <a:cs typeface="Calibri"/>
            </a:endParaRPr>
          </a:p>
          <a:p>
            <a:pPr marL="12700" marR="306070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Planned</a:t>
            </a:r>
            <a:r>
              <a:rPr sz="1200" b="1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Improvement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Add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More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Improve</a:t>
            </a:r>
            <a:r>
              <a:rPr sz="1200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Accuracy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Study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Real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Materials 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lang="en-IN"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lang="en-IN" sz="1200" dirty="0">
                <a:solidFill>
                  <a:srgbClr val="2D1B5B"/>
                </a:solidFill>
                <a:latin typeface="Calibri"/>
                <a:cs typeface="Calibri"/>
              </a:rPr>
              <a:t>Quantum</a:t>
            </a:r>
            <a:r>
              <a:rPr lang="en-IN" sz="1200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lang="en-IN" sz="1200" spc="-10" dirty="0">
                <a:solidFill>
                  <a:srgbClr val="2D1B5B"/>
                </a:solidFill>
                <a:latin typeface="Calibri"/>
                <a:cs typeface="Calibri"/>
              </a:rPr>
              <a:t>Hardware</a:t>
            </a:r>
            <a:endParaRPr lang="en-IN"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Connect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to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Sensing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02789" y="3269106"/>
            <a:ext cx="624586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D1B5B"/>
                </a:solidFill>
                <a:latin typeface="Calibri"/>
                <a:cs typeface="Calibri"/>
              </a:rPr>
              <a:t>Our</a:t>
            </a:r>
            <a:r>
              <a:rPr sz="1200" b="1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2D1B5B"/>
                </a:solidFill>
                <a:latin typeface="Calibri"/>
                <a:cs typeface="Calibri"/>
              </a:rPr>
              <a:t>Direction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Introduce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more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battery-relevant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molecules</a:t>
            </a:r>
            <a:r>
              <a:rPr sz="1200" spc="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selected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for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scientific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value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computational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feasibility.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Test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larger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basis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sets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validate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energy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calculations and</a:t>
            </a:r>
            <a:r>
              <a:rPr sz="1200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cached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results.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Progress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towards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modelling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interfaces,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ion</a:t>
            </a:r>
            <a:r>
              <a:rPr sz="1200" spc="-2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movement,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material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properties using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suitable</a:t>
            </a:r>
            <a:endParaRPr lang="en-IN" sz="1200" spc="-10" dirty="0">
              <a:solidFill>
                <a:srgbClr val="2D1B5B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IN" sz="1200" spc="-10" dirty="0">
                <a:solidFill>
                  <a:srgbClr val="2D1B5B"/>
                </a:solidFill>
                <a:latin typeface="Calibri"/>
                <a:cs typeface="Calibri"/>
              </a:rPr>
              <a:t>methods.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02789" y="4183481"/>
            <a:ext cx="48234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Investigate</a:t>
            </a:r>
            <a:r>
              <a:rPr sz="1200" spc="-6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hardware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execution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 and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noise-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aware</a:t>
            </a:r>
            <a:r>
              <a:rPr sz="1200" spc="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simulations</a:t>
            </a:r>
            <a:r>
              <a:rPr sz="1200" spc="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when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feasible.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Explore</a:t>
            </a:r>
            <a:r>
              <a:rPr sz="1200" spc="-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suitable</a:t>
            </a:r>
            <a:r>
              <a:rPr sz="1200" spc="-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chemistry-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related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sensing</a:t>
            </a:r>
            <a:r>
              <a:rPr sz="1200" spc="-3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application</a:t>
            </a:r>
            <a:r>
              <a:rPr sz="1200" spc="-1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as</a:t>
            </a:r>
            <a:r>
              <a:rPr sz="1200" spc="-4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200" spc="-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D1B5B"/>
                </a:solidFill>
                <a:latin typeface="Calibri"/>
                <a:cs typeface="Calibri"/>
              </a:rPr>
              <a:t>future</a:t>
            </a:r>
            <a:r>
              <a:rPr sz="1200" spc="-3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D1B5B"/>
                </a:solidFill>
                <a:latin typeface="Calibri"/>
                <a:cs typeface="Calibri"/>
              </a:rPr>
              <a:t>extension.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96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8CA266E-08D1-4AAB-9FB2-078ACEEEE2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65" t="33006" b="36253"/>
          <a:stretch>
            <a:fillRect/>
          </a:stretch>
        </p:blipFill>
        <p:spPr>
          <a:xfrm>
            <a:off x="3886200" y="2882595"/>
            <a:ext cx="3579722" cy="578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292" y="155193"/>
            <a:ext cx="2847975" cy="3333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14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80" dirty="0">
                <a:solidFill>
                  <a:srgbClr val="2D1B5B"/>
                </a:solidFill>
                <a:latin typeface="Nirmala UI"/>
                <a:cs typeface="Nirmala UI"/>
              </a:rPr>
              <a:t>ೇಶ್ವ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500" dirty="0">
                <a:solidFill>
                  <a:srgbClr val="2D1B5B"/>
                </a:solidFill>
                <a:latin typeface="Nirmala UI"/>
                <a:cs typeface="Nirmala UI"/>
              </a:rPr>
              <a:t>ರಯ್ಯ</a:t>
            </a:r>
            <a:r>
              <a:rPr sz="950" b="1" spc="38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80" dirty="0">
                <a:solidFill>
                  <a:srgbClr val="2D1B5B"/>
                </a:solidFill>
                <a:latin typeface="Nirmala UI"/>
                <a:cs typeface="Nirmala UI"/>
              </a:rPr>
              <a:t>ತಾಂತ್ರಿ</a:t>
            </a:r>
            <a:r>
              <a:rPr sz="950" b="1" spc="-7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dirty="0">
                <a:solidFill>
                  <a:srgbClr val="2D1B5B"/>
                </a:solidFill>
                <a:latin typeface="Nirmala UI"/>
                <a:cs typeface="Nirmala UI"/>
              </a:rPr>
              <a:t>ಕ</a:t>
            </a:r>
            <a:r>
              <a:rPr sz="950" b="1" spc="-15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80" dirty="0">
                <a:solidFill>
                  <a:srgbClr val="2D1B5B"/>
                </a:solidFill>
                <a:latin typeface="Nirmala UI"/>
                <a:cs typeface="Nirmala UI"/>
              </a:rPr>
              <a:t>ವಿಶ್ವ</a:t>
            </a:r>
            <a:r>
              <a:rPr sz="950" b="1" spc="22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615" dirty="0">
                <a:solidFill>
                  <a:srgbClr val="2D1B5B"/>
                </a:solidFill>
                <a:latin typeface="Nirmala UI"/>
                <a:cs typeface="Nirmala UI"/>
              </a:rPr>
              <a:t>ವಿದ್ಯಯ</a:t>
            </a:r>
            <a:r>
              <a:rPr sz="950" b="1" spc="13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25" dirty="0">
                <a:solidFill>
                  <a:srgbClr val="2D1B5B"/>
                </a:solidFill>
                <a:latin typeface="Nirmala UI"/>
                <a:cs typeface="Nirmala UI"/>
              </a:rPr>
              <a:t>ಲಯ್,</a:t>
            </a:r>
            <a:r>
              <a:rPr sz="950" b="1" spc="500" dirty="0">
                <a:solidFill>
                  <a:srgbClr val="2D1B5B"/>
                </a:solidFill>
                <a:latin typeface="Nirmala UI"/>
                <a:cs typeface="Nirmala U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Nirmala UI"/>
                <a:cs typeface="Nirmala UI"/>
              </a:rPr>
              <a:t>ಬೆಳಗಾವಿ</a:t>
            </a:r>
            <a:endParaRPr sz="950">
              <a:latin typeface="Nirmala UI"/>
              <a:cs typeface="Nirmala U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Visvesvaraya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Technological</a:t>
            </a:r>
            <a:r>
              <a:rPr sz="950" b="1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University,</a:t>
            </a:r>
            <a:r>
              <a:rPr sz="950" b="1" spc="4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2D1B5B"/>
                </a:solidFill>
                <a:latin typeface="Calibri"/>
                <a:cs typeface="Calibri"/>
              </a:rPr>
              <a:t>Belagavi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1103" y="91439"/>
            <a:ext cx="612648" cy="4754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3683" y="50487"/>
            <a:ext cx="1845945" cy="4940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45"/>
              </a:spcBef>
            </a:pP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Q</a:t>
            </a:r>
            <a:r>
              <a:rPr sz="1100" b="1" spc="-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K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I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2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A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L</a:t>
            </a:r>
            <a:r>
              <a:rPr sz="1100" b="1" spc="409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F</a:t>
            </a:r>
            <a:r>
              <a:rPr sz="1100" b="1" spc="-6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E</a:t>
            </a:r>
            <a:r>
              <a:rPr sz="1100" b="1" spc="-7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S</a:t>
            </a:r>
            <a:r>
              <a:rPr sz="1100" b="1" spc="-55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2D1B5B"/>
                </a:solidFill>
                <a:latin typeface="Calibri"/>
                <a:cs typeface="Calibri"/>
              </a:rPr>
              <a:t>T</a:t>
            </a:r>
            <a:r>
              <a:rPr sz="1100" b="1" spc="450" dirty="0">
                <a:solidFill>
                  <a:srgbClr val="2D1B5B"/>
                </a:solidFill>
                <a:latin typeface="Calibri"/>
                <a:cs typeface="Calibri"/>
              </a:rPr>
              <a:t> </a:t>
            </a:r>
            <a:r>
              <a:rPr sz="1100" b="1" spc="105" dirty="0">
                <a:solidFill>
                  <a:srgbClr val="2D1B5B"/>
                </a:solidFill>
                <a:latin typeface="Calibri"/>
                <a:cs typeface="Calibri"/>
              </a:rPr>
              <a:t>2026 </a:t>
            </a:r>
            <a:endParaRPr sz="1100">
              <a:latin typeface="Calibri"/>
              <a:cs typeface="Calibri"/>
            </a:endParaRPr>
          </a:p>
          <a:p>
            <a:pPr marR="19685" algn="r">
              <a:lnSpc>
                <a:spcPct val="100000"/>
              </a:lnSpc>
              <a:spcBef>
                <a:spcPts val="575"/>
              </a:spcBef>
            </a:pPr>
            <a:r>
              <a:rPr sz="950" b="1" spc="60" dirty="0">
                <a:solidFill>
                  <a:srgbClr val="5B3AA8"/>
                </a:solidFill>
                <a:latin typeface="Calibri"/>
                <a:cs typeface="Calibri"/>
              </a:rPr>
              <a:t>IBM</a:t>
            </a:r>
            <a:r>
              <a:rPr sz="950" b="1" spc="1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50" b="1" spc="65" dirty="0">
                <a:solidFill>
                  <a:srgbClr val="5B3AA8"/>
                </a:solidFill>
                <a:latin typeface="Calibri"/>
                <a:cs typeface="Calibri"/>
              </a:rPr>
              <a:t>Quantum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02752" y="91439"/>
            <a:ext cx="475488" cy="475488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44804" y="893191"/>
            <a:ext cx="728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C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L</a:t>
            </a:r>
            <a:r>
              <a:rPr sz="1000" b="1" spc="9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O</a:t>
            </a:r>
            <a:r>
              <a:rPr sz="1000" b="1" spc="8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S</a:t>
            </a:r>
            <a:r>
              <a:rPr sz="1000" b="1" spc="8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I</a:t>
            </a:r>
            <a:r>
              <a:rPr sz="1000" b="1" spc="75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E8629F"/>
                </a:solidFill>
                <a:latin typeface="Calibri"/>
                <a:cs typeface="Calibri"/>
              </a:rPr>
              <a:t>N</a:t>
            </a:r>
            <a:r>
              <a:rPr sz="1000" b="1" spc="70" dirty="0">
                <a:solidFill>
                  <a:srgbClr val="E8629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E8629F"/>
                </a:solidFill>
                <a:latin typeface="Calibri"/>
                <a:cs typeface="Calibri"/>
              </a:rPr>
              <a:t>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804" y="1146124"/>
            <a:ext cx="3073400" cy="184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2D1B5B"/>
                </a:solidFill>
                <a:latin typeface="Georgia"/>
                <a:cs typeface="Georgia"/>
              </a:rPr>
              <a:t>Thank</a:t>
            </a:r>
            <a:r>
              <a:rPr sz="4200" b="1" spc="-30" dirty="0">
                <a:solidFill>
                  <a:srgbClr val="2D1B5B"/>
                </a:solidFill>
                <a:latin typeface="Georgia"/>
                <a:cs typeface="Georgia"/>
              </a:rPr>
              <a:t> </a:t>
            </a:r>
            <a:r>
              <a:rPr sz="4200" b="1" spc="-25" dirty="0">
                <a:solidFill>
                  <a:srgbClr val="2D1B5B"/>
                </a:solidFill>
                <a:latin typeface="Georgia"/>
                <a:cs typeface="Georgia"/>
              </a:rPr>
              <a:t>You </a:t>
            </a:r>
            <a:r>
              <a:rPr sz="4200" b="1" spc="-10" dirty="0">
                <a:solidFill>
                  <a:srgbClr val="E8629F"/>
                </a:solidFill>
                <a:latin typeface="Georgia"/>
                <a:cs typeface="Georgia"/>
              </a:rPr>
              <a:t>Questions?</a:t>
            </a:r>
            <a:endParaRPr sz="4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690"/>
              </a:spcBef>
            </a:pPr>
            <a:r>
              <a:rPr sz="1300" i="1" dirty="0">
                <a:solidFill>
                  <a:srgbClr val="6E7399"/>
                </a:solidFill>
                <a:latin typeface="Calibri"/>
                <a:cs typeface="Calibri"/>
              </a:rPr>
              <a:t>Inspiring</a:t>
            </a:r>
            <a:r>
              <a:rPr sz="1300" i="1" spc="-45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E7399"/>
                </a:solidFill>
                <a:latin typeface="Calibri"/>
                <a:cs typeface="Calibri"/>
              </a:rPr>
              <a:t>Minds.</a:t>
            </a:r>
            <a:r>
              <a:rPr sz="1300" i="1" spc="-2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300" i="1" dirty="0">
                <a:solidFill>
                  <a:srgbClr val="6E7399"/>
                </a:solidFill>
                <a:latin typeface="Calibri"/>
                <a:cs typeface="Calibri"/>
              </a:rPr>
              <a:t>Shaping</a:t>
            </a:r>
            <a:r>
              <a:rPr sz="1300" i="1" spc="-40" dirty="0">
                <a:solidFill>
                  <a:srgbClr val="6E7399"/>
                </a:solidFill>
                <a:latin typeface="Calibri"/>
                <a:cs typeface="Calibri"/>
              </a:rPr>
              <a:t> </a:t>
            </a:r>
            <a:r>
              <a:rPr sz="1300" i="1" spc="-10" dirty="0">
                <a:solidFill>
                  <a:srgbClr val="6E7399"/>
                </a:solidFill>
                <a:latin typeface="Calibri"/>
                <a:cs typeface="Calibri"/>
              </a:rPr>
              <a:t>Tomorrow.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4151" y="3288791"/>
            <a:ext cx="2295525" cy="539750"/>
            <a:chOff x="454151" y="3288791"/>
            <a:chExt cx="2295525" cy="539750"/>
          </a:xfrm>
        </p:grpSpPr>
        <p:sp>
          <p:nvSpPr>
            <p:cNvPr id="18" name="object 18"/>
            <p:cNvSpPr/>
            <p:nvPr/>
          </p:nvSpPr>
          <p:spPr>
            <a:xfrm>
              <a:off x="458723" y="329336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475488"/>
                  </a:lnTo>
                  <a:lnTo>
                    <a:pt x="4311" y="496865"/>
                  </a:lnTo>
                  <a:lnTo>
                    <a:pt x="16068" y="514302"/>
                  </a:lnTo>
                  <a:lnTo>
                    <a:pt x="33507" y="526047"/>
                  </a:lnTo>
                  <a:lnTo>
                    <a:pt x="54864" y="530352"/>
                  </a:lnTo>
                  <a:lnTo>
                    <a:pt x="2231136" y="530352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6000" y="475488"/>
                  </a:lnTo>
                  <a:lnTo>
                    <a:pt x="2286000" y="54864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8723" y="3293363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2231136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6000" y="54864"/>
                  </a:lnTo>
                  <a:lnTo>
                    <a:pt x="2286000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6" y="530352"/>
                  </a:lnTo>
                  <a:lnTo>
                    <a:pt x="54864" y="530352"/>
                  </a:lnTo>
                  <a:lnTo>
                    <a:pt x="33507" y="526047"/>
                  </a:lnTo>
                  <a:lnTo>
                    <a:pt x="16068" y="514302"/>
                  </a:lnTo>
                  <a:lnTo>
                    <a:pt x="4311" y="496865"/>
                  </a:lnTo>
                  <a:lnTo>
                    <a:pt x="0" y="475488"/>
                  </a:lnTo>
                  <a:lnTo>
                    <a:pt x="0" y="54864"/>
                  </a:lnTo>
                  <a:close/>
                </a:path>
              </a:pathLst>
            </a:custGeom>
            <a:ln w="9143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8723" y="3293364"/>
            <a:ext cx="2286000" cy="5308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969"/>
              </a:spcBef>
            </a:pPr>
            <a:r>
              <a:rPr sz="900" b="1" spc="80" dirty="0">
                <a:solidFill>
                  <a:srgbClr val="5B3AA8"/>
                </a:solidFill>
                <a:latin typeface="Calibri"/>
                <a:cs typeface="Calibri"/>
              </a:rPr>
              <a:t>GITHUB</a:t>
            </a:r>
            <a:r>
              <a:rPr sz="900" b="1" spc="17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50" dirty="0">
                <a:solidFill>
                  <a:srgbClr val="5B3AA8"/>
                </a:solidFill>
                <a:latin typeface="Calibri"/>
                <a:cs typeface="Calibri"/>
              </a:rPr>
              <a:t>REPO</a:t>
            </a:r>
            <a:endParaRPr sz="900">
              <a:latin typeface="Calibri"/>
              <a:cs typeface="Calibri"/>
            </a:endParaRPr>
          </a:p>
          <a:p>
            <a:pPr marL="78105" marR="176530">
              <a:lnSpc>
                <a:spcPct val="100000"/>
              </a:lnSpc>
            </a:pPr>
            <a:r>
              <a:rPr sz="900" spc="85" dirty="0">
                <a:solidFill>
                  <a:srgbClr val="5B3AA8"/>
                </a:solidFill>
                <a:latin typeface="Calibri"/>
                <a:cs typeface="Calibri"/>
              </a:rPr>
              <a:t>https://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80" dirty="0">
                <a:solidFill>
                  <a:srgbClr val="5B3AA8"/>
                </a:solidFill>
                <a:latin typeface="Calibri"/>
                <a:cs typeface="Calibri"/>
              </a:rPr>
              <a:t>github.</a:t>
            </a:r>
            <a:r>
              <a:rPr sz="900" spc="-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65" dirty="0">
                <a:solidFill>
                  <a:srgbClr val="5B3AA8"/>
                </a:solidFill>
                <a:latin typeface="Calibri"/>
                <a:cs typeface="Calibri"/>
              </a:rPr>
              <a:t>com/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60" dirty="0">
                <a:solidFill>
                  <a:srgbClr val="5B3AA8"/>
                </a:solidFill>
                <a:latin typeface="Calibri"/>
                <a:cs typeface="Calibri"/>
              </a:rPr>
              <a:t>vtu</a:t>
            </a:r>
            <a:r>
              <a:rPr sz="900" spc="-7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B3AA8"/>
                </a:solidFill>
                <a:latin typeface="Calibri"/>
                <a:cs typeface="Calibri"/>
              </a:rPr>
              <a:t>-</a:t>
            </a:r>
            <a:r>
              <a:rPr sz="900" spc="-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80" dirty="0">
                <a:solidFill>
                  <a:srgbClr val="5B3AA8"/>
                </a:solidFill>
                <a:latin typeface="Calibri"/>
                <a:cs typeface="Calibri"/>
              </a:rPr>
              <a:t>qiskit-</a:t>
            </a:r>
            <a:r>
              <a:rPr sz="900" spc="-114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fall-</a:t>
            </a:r>
            <a:r>
              <a:rPr sz="900" spc="80" dirty="0">
                <a:solidFill>
                  <a:srgbClr val="5B3AA8"/>
                </a:solidFill>
                <a:latin typeface="Calibri"/>
                <a:cs typeface="Calibri"/>
              </a:rPr>
              <a:t>fest-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2026</a:t>
            </a:r>
            <a:r>
              <a:rPr sz="900" spc="-11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5B3AA8"/>
                </a:solidFill>
                <a:latin typeface="Calibri"/>
                <a:cs typeface="Calibri"/>
              </a:rPr>
              <a:t>/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vtu-</a:t>
            </a:r>
            <a:r>
              <a:rPr sz="900" spc="-95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65" dirty="0">
                <a:solidFill>
                  <a:srgbClr val="5B3AA8"/>
                </a:solidFill>
                <a:latin typeface="Calibri"/>
                <a:cs typeface="Calibri"/>
              </a:rPr>
              <a:t>hc-</a:t>
            </a:r>
            <a:r>
              <a:rPr sz="900" spc="-9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spc="70" dirty="0">
                <a:solidFill>
                  <a:srgbClr val="5B3AA8"/>
                </a:solidFill>
                <a:latin typeface="Calibri"/>
                <a:cs typeface="Calibri"/>
              </a:rPr>
              <a:t>anonymous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922841" y="3288601"/>
            <a:ext cx="2295525" cy="540385"/>
            <a:chOff x="2922841" y="3288601"/>
            <a:chExt cx="2295525" cy="540385"/>
          </a:xfrm>
        </p:grpSpPr>
        <p:sp>
          <p:nvSpPr>
            <p:cNvPr id="22" name="object 22"/>
            <p:cNvSpPr/>
            <p:nvPr/>
          </p:nvSpPr>
          <p:spPr>
            <a:xfrm>
              <a:off x="2927604" y="3293364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22311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475488"/>
                  </a:lnTo>
                  <a:lnTo>
                    <a:pt x="4304" y="496865"/>
                  </a:lnTo>
                  <a:lnTo>
                    <a:pt x="16049" y="514302"/>
                  </a:lnTo>
                  <a:lnTo>
                    <a:pt x="33486" y="526047"/>
                  </a:lnTo>
                  <a:lnTo>
                    <a:pt x="54863" y="530352"/>
                  </a:lnTo>
                  <a:lnTo>
                    <a:pt x="2231135" y="530352"/>
                  </a:lnTo>
                  <a:lnTo>
                    <a:pt x="2252513" y="526047"/>
                  </a:lnTo>
                  <a:lnTo>
                    <a:pt x="2269950" y="514302"/>
                  </a:lnTo>
                  <a:lnTo>
                    <a:pt x="2281695" y="496865"/>
                  </a:lnTo>
                  <a:lnTo>
                    <a:pt x="2285999" y="475488"/>
                  </a:lnTo>
                  <a:lnTo>
                    <a:pt x="2285999" y="54864"/>
                  </a:lnTo>
                  <a:lnTo>
                    <a:pt x="2281695" y="33486"/>
                  </a:lnTo>
                  <a:lnTo>
                    <a:pt x="2269950" y="16049"/>
                  </a:lnTo>
                  <a:lnTo>
                    <a:pt x="2252513" y="4304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27604" y="3293364"/>
              <a:ext cx="2286000" cy="530860"/>
            </a:xfrm>
            <a:custGeom>
              <a:avLst/>
              <a:gdLst/>
              <a:ahLst/>
              <a:cxnLst/>
              <a:rect l="l" t="t" r="r" b="b"/>
              <a:pathLst>
                <a:path w="2286000" h="53086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2231135" y="0"/>
                  </a:lnTo>
                  <a:lnTo>
                    <a:pt x="2252513" y="4304"/>
                  </a:lnTo>
                  <a:lnTo>
                    <a:pt x="2269950" y="16049"/>
                  </a:lnTo>
                  <a:lnTo>
                    <a:pt x="2281695" y="33486"/>
                  </a:lnTo>
                  <a:lnTo>
                    <a:pt x="2285999" y="54864"/>
                  </a:lnTo>
                  <a:lnTo>
                    <a:pt x="2285999" y="475488"/>
                  </a:lnTo>
                  <a:lnTo>
                    <a:pt x="2281695" y="496865"/>
                  </a:lnTo>
                  <a:lnTo>
                    <a:pt x="2269950" y="514302"/>
                  </a:lnTo>
                  <a:lnTo>
                    <a:pt x="2252513" y="526047"/>
                  </a:lnTo>
                  <a:lnTo>
                    <a:pt x="2231135" y="530352"/>
                  </a:lnTo>
                  <a:lnTo>
                    <a:pt x="54863" y="530352"/>
                  </a:lnTo>
                  <a:lnTo>
                    <a:pt x="33486" y="526047"/>
                  </a:lnTo>
                  <a:lnTo>
                    <a:pt x="16049" y="514302"/>
                  </a:lnTo>
                  <a:lnTo>
                    <a:pt x="4304" y="496865"/>
                  </a:lnTo>
                  <a:lnTo>
                    <a:pt x="0" y="475488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B8BC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927604" y="3293364"/>
            <a:ext cx="2286000" cy="53086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969"/>
              </a:spcBef>
            </a:pP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DEMO</a:t>
            </a:r>
            <a:r>
              <a:rPr sz="900" b="1" spc="17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75" dirty="0">
                <a:solidFill>
                  <a:srgbClr val="5B3AA8"/>
                </a:solidFill>
                <a:latin typeface="Calibri"/>
                <a:cs typeface="Calibri"/>
              </a:rPr>
              <a:t>VIDEO</a:t>
            </a:r>
            <a:r>
              <a:rPr sz="900" b="1" spc="200" dirty="0">
                <a:solidFill>
                  <a:srgbClr val="5B3AA8"/>
                </a:solidFill>
                <a:latin typeface="Calibri"/>
                <a:cs typeface="Calibri"/>
              </a:rPr>
              <a:t> </a:t>
            </a:r>
            <a:r>
              <a:rPr sz="900" b="1" spc="55" dirty="0">
                <a:solidFill>
                  <a:srgbClr val="5B3AA8"/>
                </a:solidFill>
                <a:latin typeface="Calibri"/>
                <a:cs typeface="Calibri"/>
              </a:rPr>
              <a:t>LINK</a:t>
            </a:r>
            <a:endParaRPr sz="900">
              <a:latin typeface="Calibri"/>
              <a:cs typeface="Calibri"/>
            </a:endParaRPr>
          </a:p>
          <a:p>
            <a:pPr marL="78740">
              <a:lnSpc>
                <a:spcPct val="100000"/>
              </a:lnSpc>
            </a:pPr>
            <a:r>
              <a:rPr sz="900" spc="-10" dirty="0">
                <a:solidFill>
                  <a:srgbClr val="2D1B5B"/>
                </a:solidFill>
                <a:latin typeface="Calibri"/>
                <a:cs typeface="Calibri"/>
                <a:hlinkClick r:id="rId4"/>
              </a:rPr>
              <a:t>https://youtu.be/ediQHrTX8oo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754879" y="914399"/>
            <a:ext cx="3931920" cy="3383279"/>
            <a:chOff x="4754879" y="914399"/>
            <a:chExt cx="3931920" cy="3383279"/>
          </a:xfrm>
        </p:grpSpPr>
        <p:pic>
          <p:nvPicPr>
            <p:cNvPr id="26" name="object 26" descr="spher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399" y="1024127"/>
              <a:ext cx="3200400" cy="3200400"/>
            </a:xfrm>
            <a:prstGeom prst="rect">
              <a:avLst/>
            </a:prstGeom>
          </p:spPr>
        </p:pic>
        <p:pic>
          <p:nvPicPr>
            <p:cNvPr id="27" name="object 27" descr="bird1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9199" y="914399"/>
              <a:ext cx="822960" cy="493775"/>
            </a:xfrm>
            <a:prstGeom prst="rect">
              <a:avLst/>
            </a:prstGeom>
          </p:spPr>
        </p:pic>
        <p:pic>
          <p:nvPicPr>
            <p:cNvPr id="28" name="object 28" descr="bird2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4879" y="3840479"/>
              <a:ext cx="548639" cy="329184"/>
            </a:xfrm>
            <a:prstGeom prst="rect">
              <a:avLst/>
            </a:prstGeom>
          </p:spPr>
        </p:pic>
        <p:pic>
          <p:nvPicPr>
            <p:cNvPr id="29" name="object 29" descr="bird3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29600" y="4023359"/>
              <a:ext cx="457200" cy="27431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6095" y="4821935"/>
            <a:ext cx="9156700" cy="329565"/>
            <a:chOff x="-6095" y="4821935"/>
            <a:chExt cx="9156700" cy="329565"/>
          </a:xfrm>
        </p:grpSpPr>
        <p:sp>
          <p:nvSpPr>
            <p:cNvPr id="7" name="object 7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9144000" y="0"/>
                  </a:moveTo>
                  <a:lnTo>
                    <a:pt x="0" y="0"/>
                  </a:lnTo>
                  <a:lnTo>
                    <a:pt x="0" y="316991"/>
                  </a:lnTo>
                  <a:lnTo>
                    <a:pt x="9144000" y="3169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AD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4828031"/>
              <a:ext cx="9144000" cy="317500"/>
            </a:xfrm>
            <a:custGeom>
              <a:avLst/>
              <a:gdLst/>
              <a:ahLst/>
              <a:cxnLst/>
              <a:rect l="l" t="t" r="r" b="b"/>
              <a:pathLst>
                <a:path w="9144000" h="317500">
                  <a:moveTo>
                    <a:pt x="0" y="316991"/>
                  </a:moveTo>
                  <a:lnTo>
                    <a:pt x="9144000" y="31699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6991"/>
                  </a:lnTo>
                  <a:close/>
                </a:path>
              </a:pathLst>
            </a:custGeom>
            <a:ln w="12192">
              <a:solidFill>
                <a:srgbClr val="CAD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7B9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7B92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3054096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54096" y="36575"/>
                  </a:lnTo>
                  <a:lnTo>
                    <a:pt x="3054096" y="0"/>
                  </a:lnTo>
                  <a:close/>
                </a:path>
              </a:pathLst>
            </a:custGeom>
            <a:solidFill>
              <a:srgbClr val="E86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54096" y="4828031"/>
              <a:ext cx="3054350" cy="36830"/>
            </a:xfrm>
            <a:custGeom>
              <a:avLst/>
              <a:gdLst/>
              <a:ahLst/>
              <a:cxnLst/>
              <a:rect l="l" t="t" r="r" b="b"/>
              <a:pathLst>
                <a:path w="3054350" h="36829">
                  <a:moveTo>
                    <a:pt x="0" y="36575"/>
                  </a:moveTo>
                  <a:lnTo>
                    <a:pt x="3054096" y="36575"/>
                  </a:lnTo>
                  <a:lnTo>
                    <a:pt x="3054096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192">
              <a:solidFill>
                <a:srgbClr val="E862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  <a:lnTo>
                    <a:pt x="3044952" y="0"/>
                  </a:lnTo>
                  <a:close/>
                </a:path>
              </a:pathLst>
            </a:custGeom>
            <a:solidFill>
              <a:srgbClr val="5B3A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99048" y="4828031"/>
              <a:ext cx="3045460" cy="36830"/>
            </a:xfrm>
            <a:custGeom>
              <a:avLst/>
              <a:gdLst/>
              <a:ahLst/>
              <a:cxnLst/>
              <a:rect l="l" t="t" r="r" b="b"/>
              <a:pathLst>
                <a:path w="3045459" h="36829">
                  <a:moveTo>
                    <a:pt x="3044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044952" y="36575"/>
                  </a:lnTo>
                </a:path>
              </a:pathLst>
            </a:custGeom>
            <a:ln w="12192">
              <a:solidFill>
                <a:srgbClr val="5B3AA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Q</a:t>
            </a:r>
            <a:r>
              <a:rPr spc="-10" dirty="0"/>
              <a:t> </a:t>
            </a:r>
            <a:r>
              <a:rPr dirty="0"/>
              <a:t>I</a:t>
            </a:r>
            <a:r>
              <a:rPr spc="-15" dirty="0"/>
              <a:t> </a:t>
            </a:r>
            <a:r>
              <a:rPr dirty="0"/>
              <a:t>S K</a:t>
            </a:r>
            <a:r>
              <a:rPr spc="-10" dirty="0"/>
              <a:t> </a:t>
            </a:r>
            <a:r>
              <a:rPr dirty="0"/>
              <a:t>I</a:t>
            </a:r>
            <a:r>
              <a:rPr spc="-10" dirty="0"/>
              <a:t> </a:t>
            </a:r>
            <a:r>
              <a:rPr dirty="0"/>
              <a:t>T</a:t>
            </a:r>
            <a:r>
              <a:rPr spc="445" dirty="0"/>
              <a:t> </a:t>
            </a:r>
            <a:r>
              <a:rPr dirty="0"/>
              <a:t>F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L</a:t>
            </a:r>
            <a:r>
              <a:rPr spc="409" dirty="0"/>
              <a:t> </a:t>
            </a:r>
            <a:r>
              <a:rPr dirty="0"/>
              <a:t>F</a:t>
            </a:r>
            <a:r>
              <a:rPr spc="-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S T</a:t>
            </a:r>
            <a:r>
              <a:rPr spc="415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0 2 6</a:t>
            </a:r>
            <a:r>
              <a:rPr spc="285" dirty="0"/>
              <a:t>  </a:t>
            </a:r>
            <a:r>
              <a:rPr dirty="0"/>
              <a:t>·</a:t>
            </a:r>
            <a:r>
              <a:rPr spc="275" dirty="0"/>
              <a:t>  </a:t>
            </a:r>
            <a:r>
              <a:rPr dirty="0"/>
              <a:t>H</a:t>
            </a:r>
            <a:r>
              <a:rPr spc="-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S T</a:t>
            </a:r>
            <a:r>
              <a:rPr spc="-1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D</a:t>
            </a:r>
            <a:r>
              <a:rPr spc="434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Y</a:t>
            </a:r>
            <a:r>
              <a:rPr spc="380" dirty="0"/>
              <a:t> </a:t>
            </a:r>
            <a:r>
              <a:rPr dirty="0"/>
              <a:t>V T</a:t>
            </a:r>
            <a:r>
              <a:rPr spc="-15" dirty="0"/>
              <a:t> </a:t>
            </a:r>
            <a:r>
              <a:rPr dirty="0"/>
              <a:t>U ,</a:t>
            </a:r>
            <a:r>
              <a:rPr spc="409" dirty="0"/>
              <a:t> </a:t>
            </a:r>
            <a:r>
              <a:rPr dirty="0"/>
              <a:t>B</a:t>
            </a:r>
            <a:r>
              <a:rPr spc="5" dirty="0"/>
              <a:t> </a:t>
            </a:r>
            <a:r>
              <a:rPr dirty="0"/>
              <a:t>E</a:t>
            </a:r>
            <a:r>
              <a:rPr spc="-10" dirty="0"/>
              <a:t> </a:t>
            </a:r>
            <a:r>
              <a:rPr dirty="0"/>
              <a:t>L</a:t>
            </a:r>
            <a:r>
              <a:rPr spc="-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G</a:t>
            </a:r>
            <a:r>
              <a:rPr spc="-1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V </a:t>
            </a:r>
            <a:r>
              <a:rPr spc="-50" dirty="0"/>
              <a:t>I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00"/>
              </a:lnSpc>
            </a:pPr>
            <a:r>
              <a:rPr dirty="0"/>
              <a:t>2</a:t>
            </a:r>
            <a:r>
              <a:rPr spc="-5" dirty="0"/>
              <a:t> </a:t>
            </a:r>
            <a:r>
              <a:rPr dirty="0"/>
              <a:t>7</a:t>
            </a:r>
            <a:r>
              <a:rPr spc="375" dirty="0"/>
              <a:t> </a:t>
            </a:r>
            <a:r>
              <a:rPr dirty="0"/>
              <a:t>–</a:t>
            </a:r>
            <a:r>
              <a:rPr spc="380" dirty="0"/>
              <a:t> </a:t>
            </a:r>
            <a:r>
              <a:rPr dirty="0"/>
              <a:t>3 1</a:t>
            </a:r>
            <a:r>
              <a:rPr spc="395" dirty="0"/>
              <a:t> </a:t>
            </a:r>
            <a:r>
              <a:rPr dirty="0"/>
              <a:t>O</a:t>
            </a:r>
            <a:r>
              <a:rPr spc="5" dirty="0"/>
              <a:t> </a:t>
            </a:r>
            <a:r>
              <a:rPr dirty="0"/>
              <a:t>C</a:t>
            </a:r>
            <a:r>
              <a:rPr spc="5" dirty="0"/>
              <a:t> </a:t>
            </a:r>
            <a:r>
              <a:rPr dirty="0"/>
              <a:t>T</a:t>
            </a:r>
            <a:r>
              <a:rPr spc="380" dirty="0"/>
              <a:t> </a:t>
            </a:r>
            <a:r>
              <a:rPr dirty="0"/>
              <a:t>2</a:t>
            </a:r>
            <a:r>
              <a:rPr spc="5" dirty="0"/>
              <a:t> </a:t>
            </a:r>
            <a:r>
              <a:rPr dirty="0"/>
              <a:t>0</a:t>
            </a:r>
            <a:r>
              <a:rPr spc="5" dirty="0"/>
              <a:t> </a:t>
            </a:r>
            <a:r>
              <a:rPr dirty="0"/>
              <a:t>2 </a:t>
            </a: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D1B5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1581</Words>
  <Application>Microsoft Office PowerPoint</Application>
  <PresentationFormat>Custom</PresentationFormat>
  <Paragraphs>190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Calibri</vt:lpstr>
      <vt:lpstr>Georgia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Ramling Belkeri</dc:creator>
  <cp:lastModifiedBy>Ramling Belkeri</cp:lastModifiedBy>
  <cp:revision>4</cp:revision>
  <dcterms:created xsi:type="dcterms:W3CDTF">2026-10-29T16:00:13Z</dcterms:created>
  <dcterms:modified xsi:type="dcterms:W3CDTF">2026-10-30T09:40:31Z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2026-10-29T00:00:00Z</vt:filetime>
  </property>
  <property fmtid="{D5CDD505-2E9C-101B-9397-08002B2CF9AE}" pid="6" name="Producer">
    <vt:lpwstr>www.ilovepdf.com</vt:lpwstr>
  </property>
</Properties>
</file>